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7EE"/>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MODULE 5</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INTRO</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1 / 10</a:t>
            </a:r>
            <a:endParaRPr lang="en-US" sz="800" dirty="0"/>
          </a:p>
        </p:txBody>
      </p:sp>
      <p:sp>
        <p:nvSpPr>
          <p:cNvPr id="6" name="Shape 4"/>
          <p:cNvSpPr/>
          <p:nvPr/>
        </p:nvSpPr>
        <p:spPr>
          <a:xfrm>
            <a:off x="914400" y="685800"/>
            <a:ext cx="7315200" cy="3520440"/>
          </a:xfrm>
          <a:prstGeom prst="rect">
            <a:avLst/>
          </a:prstGeom>
          <a:solidFill>
            <a:srgbClr val="2D5A27"/>
          </a:solidFill>
          <a:ln w="12700">
            <a:solidFill>
              <a:srgbClr val="2D5A27"/>
            </a:solidFill>
            <a:prstDash val="solid"/>
          </a:ln>
        </p:spPr>
      </p:sp>
      <p:sp>
        <p:nvSpPr>
          <p:cNvPr id="7" name="Shape 5"/>
          <p:cNvSpPr/>
          <p:nvPr/>
        </p:nvSpPr>
        <p:spPr>
          <a:xfrm>
            <a:off x="3703320" y="566928"/>
            <a:ext cx="1737360" cy="274320"/>
          </a:xfrm>
          <a:prstGeom prst="roundRect">
            <a:avLst>
              <a:gd name="adj" fmla="val 33333"/>
            </a:avLst>
          </a:prstGeom>
          <a:solidFill>
            <a:srgbClr val="E8C040">
              <a:alpha val="60000"/>
            </a:srgbClr>
          </a:solidFill>
          <a:ln w="10160">
            <a:solidFill>
              <a:srgbClr val="B8860B"/>
            </a:solidFill>
            <a:prstDash val="solid"/>
          </a:ln>
        </p:spPr>
      </p:sp>
      <p:sp>
        <p:nvSpPr>
          <p:cNvPr id="8" name="Text 6"/>
          <p:cNvSpPr/>
          <p:nvPr/>
        </p:nvSpPr>
        <p:spPr>
          <a:xfrm>
            <a:off x="3703320" y="566928"/>
            <a:ext cx="1737360" cy="274320"/>
          </a:xfrm>
          <a:prstGeom prst="rect">
            <a:avLst/>
          </a:prstGeom>
          <a:noFill/>
          <a:ln/>
        </p:spPr>
        <p:txBody>
          <a:bodyPr wrap="square" rtlCol="0" anchor="ctr"/>
          <a:lstStyle/>
          <a:p>
            <a:pPr algn="ctr" indent="0" marL="0">
              <a:buNone/>
            </a:pPr>
            <a:r>
              <a:rPr lang="en-US" sz="800" b="1" spc="200" kern="0" dirty="0">
                <a:solidFill>
                  <a:srgbClr val="2D5A27"/>
                </a:solidFill>
              </a:rPr>
              <a:t>MODULE 5</a:t>
            </a:r>
            <a:endParaRPr lang="en-US" sz="800" dirty="0"/>
          </a:p>
        </p:txBody>
      </p:sp>
      <p:sp>
        <p:nvSpPr>
          <p:cNvPr id="9" name="Text 7"/>
          <p:cNvSpPr/>
          <p:nvPr/>
        </p:nvSpPr>
        <p:spPr>
          <a:xfrm>
            <a:off x="1097280" y="1024128"/>
            <a:ext cx="6949440" cy="64008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L'art de passer à table</a:t>
            </a:r>
            <a:endParaRPr lang="en-US" sz="2800" dirty="0"/>
          </a:p>
        </p:txBody>
      </p:sp>
      <p:sp>
        <p:nvSpPr>
          <p:cNvPr id="10" name="Shape 8"/>
          <p:cNvSpPr/>
          <p:nvPr/>
        </p:nvSpPr>
        <p:spPr>
          <a:xfrm>
            <a:off x="4160520" y="1783080"/>
            <a:ext cx="822960" cy="36576"/>
          </a:xfrm>
          <a:prstGeom prst="rect">
            <a:avLst/>
          </a:prstGeom>
          <a:solidFill>
            <a:srgbClr val="E8C040"/>
          </a:solidFill>
          <a:ln w="12700">
            <a:solidFill>
              <a:srgbClr val="E8C040"/>
            </a:solidFill>
            <a:prstDash val="solid"/>
          </a:ln>
        </p:spPr>
      </p:sp>
      <p:sp>
        <p:nvSpPr>
          <p:cNvPr id="11" name="Text 9"/>
          <p:cNvSpPr/>
          <p:nvPr/>
        </p:nvSpPr>
        <p:spPr>
          <a:xfrm>
            <a:off x="1097280" y="1965960"/>
            <a:ext cx="6949440" cy="411480"/>
          </a:xfrm>
          <a:prstGeom prst="rect">
            <a:avLst/>
          </a:prstGeom>
          <a:noFill/>
          <a:ln/>
        </p:spPr>
        <p:txBody>
          <a:bodyPr wrap="square" rtlCol="0" anchor="ctr"/>
          <a:lstStyle/>
          <a:p>
            <a:pPr algn="ctr" indent="0" marL="0">
              <a:buNone/>
            </a:pPr>
            <a:r>
              <a:rPr lang="en-US" sz="1300" i="1" dirty="0">
                <a:solidFill>
                  <a:srgbClr val="E8C040"/>
                </a:solidFill>
              </a:rPr>
              <a:t>Comment manger — pas seulement quoi manger.</a:t>
            </a:r>
            <a:endParaRPr lang="en-US" sz="1300" dirty="0"/>
          </a:p>
        </p:txBody>
      </p:sp>
      <p:sp>
        <p:nvSpPr>
          <p:cNvPr id="12" name="Text 10"/>
          <p:cNvSpPr/>
          <p:nvPr/>
        </p:nvSpPr>
        <p:spPr>
          <a:xfrm>
            <a:off x="1097280" y="2514600"/>
            <a:ext cx="6949440" cy="640080"/>
          </a:xfrm>
          <a:prstGeom prst="rect">
            <a:avLst/>
          </a:prstGeom>
          <a:noFill/>
          <a:ln/>
        </p:spPr>
        <p:txBody>
          <a:bodyPr wrap="square" rtlCol="0" anchor="ctr"/>
          <a:lstStyle/>
          <a:p>
            <a:pPr algn="ctr" indent="0" marL="0">
              <a:buNone/>
            </a:pPr>
            <a:r>
              <a:rPr lang="en-US" sz="1100" dirty="0">
                <a:solidFill>
                  <a:srgbClr val="9DC498"/>
                </a:solidFill>
              </a:rPr>
              <a:t>Mastication · Nerf vague · Stress et digestion</a:t>
            </a:r>
            <a:endParaRPr lang="en-US" sz="1100" dirty="0"/>
          </a:p>
          <a:p>
            <a:pPr algn="ctr" indent="0" marL="0">
              <a:buNone/>
            </a:pPr>
            <a:r>
              <a:rPr lang="en-US" sz="1100" dirty="0">
                <a:solidFill>
                  <a:srgbClr val="9DC498"/>
                </a:solidFill>
              </a:rPr>
              <a:t>Environnement du repas · Les 5 gestes concrets</a:t>
            </a:r>
            <a:endParaRPr lang="en-US" sz="1100" dirty="0"/>
          </a:p>
        </p:txBody>
      </p:sp>
      <p:sp>
        <p:nvSpPr>
          <p:cNvPr id="13" name="Shape 11"/>
          <p:cNvSpPr/>
          <p:nvPr/>
        </p:nvSpPr>
        <p:spPr>
          <a:xfrm>
            <a:off x="0" y="0"/>
            <a:ext cx="777240" cy="5143500"/>
          </a:xfrm>
          <a:prstGeom prst="rect">
            <a:avLst/>
          </a:prstGeom>
          <a:solidFill>
            <a:srgbClr val="D4EAD0"/>
          </a:solidFill>
          <a:ln w="12700">
            <a:solidFill>
              <a:srgbClr val="D4EAD0"/>
            </a:solidFill>
            <a:prstDash val="solid"/>
          </a:ln>
        </p:spPr>
      </p:sp>
      <p:sp>
        <p:nvSpPr>
          <p:cNvPr id="14" name="Shape 12"/>
          <p:cNvSpPr/>
          <p:nvPr/>
        </p:nvSpPr>
        <p:spPr>
          <a:xfrm>
            <a:off x="8366760" y="0"/>
            <a:ext cx="777240" cy="5143500"/>
          </a:xfrm>
          <a:prstGeom prst="rect">
            <a:avLst/>
          </a:prstGeom>
          <a:solidFill>
            <a:srgbClr val="D4EAD0"/>
          </a:solidFill>
          <a:ln w="12700">
            <a:solidFill>
              <a:srgbClr val="D4EAD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DF8"/>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LA MASTICATION</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MASTICATION</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2 / 10</a:t>
            </a:r>
            <a:endParaRPr lang="en-US" sz="800" dirty="0"/>
          </a:p>
        </p:txBody>
      </p:sp>
      <p:sp>
        <p:nvSpPr>
          <p:cNvPr id="6" name="Text 4"/>
          <p:cNvSpPr/>
          <p:nvPr/>
        </p:nvSpPr>
        <p:spPr>
          <a:xfrm>
            <a:off x="457200" y="164592"/>
            <a:ext cx="8229600" cy="475488"/>
          </a:xfrm>
          <a:prstGeom prst="rect">
            <a:avLst/>
          </a:prstGeom>
          <a:noFill/>
          <a:ln/>
        </p:spPr>
        <p:txBody>
          <a:bodyPr wrap="square" rtlCol="0" anchor="ctr"/>
          <a:lstStyle/>
          <a:p>
            <a:pPr algn="ctr" indent="0" marL="0">
              <a:buNone/>
            </a:pPr>
            <a:r>
              <a:rPr lang="en-US" sz="2400" b="1" dirty="0">
                <a:solidFill>
                  <a:srgbClr val="1A3A18"/>
                </a:solidFill>
                <a:latin typeface="Georgia" pitchFamily="34" charset="0"/>
                <a:ea typeface="Georgia" pitchFamily="34" charset="-122"/>
                <a:cs typeface="Georgia" pitchFamily="34" charset="-120"/>
              </a:rPr>
              <a:t>La digestion commence dans la bouche</a:t>
            </a:r>
            <a:endParaRPr lang="en-US" sz="2400" dirty="0"/>
          </a:p>
        </p:txBody>
      </p:sp>
      <p:sp>
        <p:nvSpPr>
          <p:cNvPr id="7" name="Shape 5"/>
          <p:cNvSpPr/>
          <p:nvPr/>
        </p:nvSpPr>
        <p:spPr>
          <a:xfrm>
            <a:off x="4297680" y="749808"/>
            <a:ext cx="548640" cy="36576"/>
          </a:xfrm>
          <a:prstGeom prst="rect">
            <a:avLst/>
          </a:prstGeom>
          <a:solidFill>
            <a:srgbClr val="B8860B"/>
          </a:solidFill>
          <a:ln w="12700">
            <a:solidFill>
              <a:srgbClr val="B8860B"/>
            </a:solidFill>
            <a:prstDash val="solid"/>
          </a:ln>
        </p:spPr>
      </p:sp>
      <p:sp>
        <p:nvSpPr>
          <p:cNvPr id="8" name="Shape 6"/>
          <p:cNvSpPr/>
          <p:nvPr/>
        </p:nvSpPr>
        <p:spPr>
          <a:xfrm>
            <a:off x="274320" y="932688"/>
            <a:ext cx="8595360" cy="530352"/>
          </a:xfrm>
          <a:prstGeom prst="rect">
            <a:avLst/>
          </a:prstGeom>
          <a:solidFill>
            <a:srgbClr val="2D5A27"/>
          </a:solidFill>
          <a:ln w="10160">
            <a:solidFill>
              <a:srgbClr val="2D5A27"/>
            </a:solidFill>
            <a:prstDash val="solid"/>
          </a:ln>
        </p:spPr>
      </p:sp>
      <p:sp>
        <p:nvSpPr>
          <p:cNvPr id="9" name="Text 7"/>
          <p:cNvSpPr/>
          <p:nvPr/>
        </p:nvSpPr>
        <p:spPr>
          <a:xfrm>
            <a:off x="457200" y="1005840"/>
            <a:ext cx="8229600" cy="384048"/>
          </a:xfrm>
          <a:prstGeom prst="rect">
            <a:avLst/>
          </a:prstGeom>
          <a:noFill/>
          <a:ln/>
        </p:spPr>
        <p:txBody>
          <a:bodyPr wrap="square" rtlCol="0" anchor="ctr"/>
          <a:lstStyle/>
          <a:p>
            <a:pPr algn="ctr" indent="0" marL="0">
              <a:buNone/>
            </a:pPr>
            <a:r>
              <a:rPr lang="en-US" sz="1200" b="1" i="1" dirty="0">
                <a:solidFill>
                  <a:srgbClr val="E8C040"/>
                </a:solidFill>
              </a:rPr>
              <a:t>Tu peux manger les meilleurs aliments du monde — et mal les assimiler si tu manges vite.</a:t>
            </a:r>
            <a:endParaRPr lang="en-US" sz="1200" dirty="0"/>
          </a:p>
        </p:txBody>
      </p:sp>
      <p:sp>
        <p:nvSpPr>
          <p:cNvPr id="10" name="Text 8"/>
          <p:cNvSpPr/>
          <p:nvPr/>
        </p:nvSpPr>
        <p:spPr>
          <a:xfrm>
            <a:off x="274320" y="1600200"/>
            <a:ext cx="4572000" cy="274320"/>
          </a:xfrm>
          <a:prstGeom prst="rect">
            <a:avLst/>
          </a:prstGeom>
          <a:noFill/>
          <a:ln/>
        </p:spPr>
        <p:txBody>
          <a:bodyPr wrap="square" rtlCol="0" anchor="ctr"/>
          <a:lstStyle/>
          <a:p>
            <a:pPr indent="0" marL="0">
              <a:buNone/>
            </a:pPr>
            <a:r>
              <a:rPr lang="en-US" sz="1000" b="1" dirty="0">
                <a:solidFill>
                  <a:srgbClr val="4A6A48"/>
                </a:solidFill>
              </a:rPr>
              <a:t>La chaîne de la digestion :</a:t>
            </a:r>
            <a:endParaRPr lang="en-US" sz="1000" dirty="0"/>
          </a:p>
        </p:txBody>
      </p:sp>
      <p:sp>
        <p:nvSpPr>
          <p:cNvPr id="11" name="Shape 9"/>
          <p:cNvSpPr/>
          <p:nvPr/>
        </p:nvSpPr>
        <p:spPr>
          <a:xfrm>
            <a:off x="274320" y="1920240"/>
            <a:ext cx="2011680" cy="2331720"/>
          </a:xfrm>
          <a:prstGeom prst="rect">
            <a:avLst/>
          </a:prstGeom>
          <a:solidFill>
            <a:srgbClr val="FFFFFF"/>
          </a:solidFill>
          <a:ln w="10160">
            <a:solidFill>
              <a:srgbClr val="9DC498"/>
            </a:solidFill>
            <a:prstDash val="solid"/>
          </a:ln>
        </p:spPr>
      </p:sp>
      <p:sp>
        <p:nvSpPr>
          <p:cNvPr id="12" name="Shape 10"/>
          <p:cNvSpPr/>
          <p:nvPr/>
        </p:nvSpPr>
        <p:spPr>
          <a:xfrm>
            <a:off x="274320" y="1920240"/>
            <a:ext cx="2011680" cy="384048"/>
          </a:xfrm>
          <a:prstGeom prst="rect">
            <a:avLst/>
          </a:prstGeom>
          <a:solidFill>
            <a:srgbClr val="B8860B"/>
          </a:solidFill>
          <a:ln w="10160">
            <a:solidFill>
              <a:srgbClr val="B8860B"/>
            </a:solidFill>
            <a:prstDash val="solid"/>
          </a:ln>
        </p:spPr>
      </p:sp>
      <p:sp>
        <p:nvSpPr>
          <p:cNvPr id="13" name="Text 11"/>
          <p:cNvSpPr/>
          <p:nvPr/>
        </p:nvSpPr>
        <p:spPr>
          <a:xfrm>
            <a:off x="347472" y="1965960"/>
            <a:ext cx="1874520" cy="292608"/>
          </a:xfrm>
          <a:prstGeom prst="rect">
            <a:avLst/>
          </a:prstGeom>
          <a:noFill/>
          <a:ln/>
        </p:spPr>
        <p:txBody>
          <a:bodyPr wrap="square" rtlCol="0" anchor="ctr"/>
          <a:lstStyle/>
          <a:p>
            <a:pPr indent="0" marL="0">
              <a:buNone/>
            </a:pPr>
            <a:r>
              <a:rPr lang="en-US" sz="1100" b="1" dirty="0">
                <a:solidFill>
                  <a:srgbClr val="FFFFFF"/>
                </a:solidFill>
              </a:rPr>
              <a:t>👄 Bouche</a:t>
            </a:r>
            <a:endParaRPr lang="en-US" sz="1100" dirty="0"/>
          </a:p>
        </p:txBody>
      </p:sp>
      <p:sp>
        <p:nvSpPr>
          <p:cNvPr id="14" name="Text 12"/>
          <p:cNvSpPr/>
          <p:nvPr/>
        </p:nvSpPr>
        <p:spPr>
          <a:xfrm>
            <a:off x="365760" y="2395728"/>
            <a:ext cx="1847088" cy="1691640"/>
          </a:xfrm>
          <a:prstGeom prst="rect">
            <a:avLst/>
          </a:prstGeom>
          <a:noFill/>
          <a:ln/>
        </p:spPr>
        <p:txBody>
          <a:bodyPr wrap="square" rtlCol="0" anchor="ctr"/>
          <a:lstStyle/>
          <a:p>
            <a:pPr algn="ctr" indent="0" marL="0">
              <a:buNone/>
            </a:pPr>
            <a:r>
              <a:rPr lang="en-US" sz="1000" dirty="0">
                <a:solidFill>
                  <a:srgbClr val="4A6A48"/>
                </a:solidFill>
              </a:rPr>
              <a:t>Mastication</a:t>
            </a:r>
            <a:endParaRPr lang="en-US" sz="1000" dirty="0"/>
          </a:p>
          <a:p>
            <a:pPr algn="ctr" indent="0" marL="0">
              <a:buNone/>
            </a:pPr>
            <a:r>
              <a:rPr lang="en-US" sz="1000" dirty="0">
                <a:solidFill>
                  <a:srgbClr val="4A6A48"/>
                </a:solidFill>
              </a:rPr>
              <a:t>+ Amylase salivaire</a:t>
            </a:r>
            <a:endParaRPr lang="en-US" sz="1000" dirty="0"/>
          </a:p>
          <a:p>
            <a:pPr algn="ctr" indent="0" marL="0">
              <a:buNone/>
            </a:pPr>
            <a:r>
              <a:rPr lang="en-US" sz="1000" dirty="0">
                <a:solidFill>
                  <a:srgbClr val="4A6A48"/>
                </a:solidFill>
              </a:rPr>
              <a:t>→ digestion glucides</a:t>
            </a:r>
            <a:endParaRPr lang="en-US" sz="1000" dirty="0"/>
          </a:p>
        </p:txBody>
      </p:sp>
      <p:sp>
        <p:nvSpPr>
          <p:cNvPr id="15" name="Text 13"/>
          <p:cNvSpPr/>
          <p:nvPr/>
        </p:nvSpPr>
        <p:spPr>
          <a:xfrm>
            <a:off x="2286000" y="2834640"/>
            <a:ext cx="164592" cy="365760"/>
          </a:xfrm>
          <a:prstGeom prst="rect">
            <a:avLst/>
          </a:prstGeom>
          <a:noFill/>
          <a:ln/>
        </p:spPr>
        <p:txBody>
          <a:bodyPr wrap="square" rtlCol="0" anchor="ctr"/>
          <a:lstStyle/>
          <a:p>
            <a:pPr algn="ctr" indent="0" marL="0">
              <a:buNone/>
            </a:pPr>
            <a:r>
              <a:rPr lang="en-US" sz="1400" dirty="0">
                <a:solidFill>
                  <a:srgbClr val="B8860B"/>
                </a:solidFill>
              </a:rPr>
              <a:t>→</a:t>
            </a:r>
            <a:endParaRPr lang="en-US" sz="1400" dirty="0"/>
          </a:p>
        </p:txBody>
      </p:sp>
      <p:sp>
        <p:nvSpPr>
          <p:cNvPr id="16" name="Shape 14"/>
          <p:cNvSpPr/>
          <p:nvPr/>
        </p:nvSpPr>
        <p:spPr>
          <a:xfrm>
            <a:off x="2450592" y="1920240"/>
            <a:ext cx="2011680" cy="2331720"/>
          </a:xfrm>
          <a:prstGeom prst="rect">
            <a:avLst/>
          </a:prstGeom>
          <a:solidFill>
            <a:srgbClr val="FFFFFF"/>
          </a:solidFill>
          <a:ln w="10160">
            <a:solidFill>
              <a:srgbClr val="9DC498"/>
            </a:solidFill>
            <a:prstDash val="solid"/>
          </a:ln>
        </p:spPr>
      </p:sp>
      <p:sp>
        <p:nvSpPr>
          <p:cNvPr id="17" name="Shape 15"/>
          <p:cNvSpPr/>
          <p:nvPr/>
        </p:nvSpPr>
        <p:spPr>
          <a:xfrm>
            <a:off x="2450592" y="1920240"/>
            <a:ext cx="2011680" cy="384048"/>
          </a:xfrm>
          <a:prstGeom prst="rect">
            <a:avLst/>
          </a:prstGeom>
          <a:solidFill>
            <a:srgbClr val="4A8A42"/>
          </a:solidFill>
          <a:ln w="10160">
            <a:solidFill>
              <a:srgbClr val="4A8A42"/>
            </a:solidFill>
            <a:prstDash val="solid"/>
          </a:ln>
        </p:spPr>
      </p:sp>
      <p:sp>
        <p:nvSpPr>
          <p:cNvPr id="18" name="Text 16"/>
          <p:cNvSpPr/>
          <p:nvPr/>
        </p:nvSpPr>
        <p:spPr>
          <a:xfrm>
            <a:off x="2523744" y="1965960"/>
            <a:ext cx="1874520" cy="292608"/>
          </a:xfrm>
          <a:prstGeom prst="rect">
            <a:avLst/>
          </a:prstGeom>
          <a:noFill/>
          <a:ln/>
        </p:spPr>
        <p:txBody>
          <a:bodyPr wrap="square" rtlCol="0" anchor="ctr"/>
          <a:lstStyle/>
          <a:p>
            <a:pPr indent="0" marL="0">
              <a:buNone/>
            </a:pPr>
            <a:r>
              <a:rPr lang="en-US" sz="1100" b="1" dirty="0">
                <a:solidFill>
                  <a:srgbClr val="FFFFFF"/>
                </a:solidFill>
              </a:rPr>
              <a:t>🫁 Estomac</a:t>
            </a:r>
            <a:endParaRPr lang="en-US" sz="1100" dirty="0"/>
          </a:p>
        </p:txBody>
      </p:sp>
      <p:sp>
        <p:nvSpPr>
          <p:cNvPr id="19" name="Text 17"/>
          <p:cNvSpPr/>
          <p:nvPr/>
        </p:nvSpPr>
        <p:spPr>
          <a:xfrm>
            <a:off x="2542032" y="2395728"/>
            <a:ext cx="1847088" cy="1691640"/>
          </a:xfrm>
          <a:prstGeom prst="rect">
            <a:avLst/>
          </a:prstGeom>
          <a:noFill/>
          <a:ln/>
        </p:spPr>
        <p:txBody>
          <a:bodyPr wrap="square" rtlCol="0" anchor="ctr"/>
          <a:lstStyle/>
          <a:p>
            <a:pPr algn="ctr" indent="0" marL="0">
              <a:buNone/>
            </a:pPr>
            <a:r>
              <a:rPr lang="en-US" sz="1000" dirty="0">
                <a:solidFill>
                  <a:srgbClr val="4A6A48"/>
                </a:solidFill>
              </a:rPr>
              <a:t>Acide chlorhydrique</a:t>
            </a:r>
            <a:endParaRPr lang="en-US" sz="1000" dirty="0"/>
          </a:p>
          <a:p>
            <a:pPr algn="ctr" indent="0" marL="0">
              <a:buNone/>
            </a:pPr>
            <a:r>
              <a:rPr lang="en-US" sz="1000" dirty="0">
                <a:solidFill>
                  <a:srgbClr val="4A6A48"/>
                </a:solidFill>
              </a:rPr>
              <a:t>+ Pepsine</a:t>
            </a:r>
            <a:endParaRPr lang="en-US" sz="1000" dirty="0"/>
          </a:p>
          <a:p>
            <a:pPr algn="ctr" indent="0" marL="0">
              <a:buNone/>
            </a:pPr>
            <a:r>
              <a:rPr lang="en-US" sz="1000" dirty="0">
                <a:solidFill>
                  <a:srgbClr val="4A6A48"/>
                </a:solidFill>
              </a:rPr>
              <a:t>→ digestion protéines</a:t>
            </a:r>
            <a:endParaRPr lang="en-US" sz="1000" dirty="0"/>
          </a:p>
        </p:txBody>
      </p:sp>
      <p:sp>
        <p:nvSpPr>
          <p:cNvPr id="20" name="Text 18"/>
          <p:cNvSpPr/>
          <p:nvPr/>
        </p:nvSpPr>
        <p:spPr>
          <a:xfrm>
            <a:off x="4462272" y="2834640"/>
            <a:ext cx="164592" cy="365760"/>
          </a:xfrm>
          <a:prstGeom prst="rect">
            <a:avLst/>
          </a:prstGeom>
          <a:noFill/>
          <a:ln/>
        </p:spPr>
        <p:txBody>
          <a:bodyPr wrap="square" rtlCol="0" anchor="ctr"/>
          <a:lstStyle/>
          <a:p>
            <a:pPr algn="ctr" indent="0" marL="0">
              <a:buNone/>
            </a:pPr>
            <a:r>
              <a:rPr lang="en-US" sz="1400" dirty="0">
                <a:solidFill>
                  <a:srgbClr val="B8860B"/>
                </a:solidFill>
              </a:rPr>
              <a:t>→</a:t>
            </a:r>
            <a:endParaRPr lang="en-US" sz="1400" dirty="0"/>
          </a:p>
        </p:txBody>
      </p:sp>
      <p:sp>
        <p:nvSpPr>
          <p:cNvPr id="21" name="Shape 19"/>
          <p:cNvSpPr/>
          <p:nvPr/>
        </p:nvSpPr>
        <p:spPr>
          <a:xfrm>
            <a:off x="4626864" y="1920240"/>
            <a:ext cx="2011680" cy="2331720"/>
          </a:xfrm>
          <a:prstGeom prst="rect">
            <a:avLst/>
          </a:prstGeom>
          <a:solidFill>
            <a:srgbClr val="FFFFFF"/>
          </a:solidFill>
          <a:ln w="10160">
            <a:solidFill>
              <a:srgbClr val="9DC498"/>
            </a:solidFill>
            <a:prstDash val="solid"/>
          </a:ln>
        </p:spPr>
      </p:sp>
      <p:sp>
        <p:nvSpPr>
          <p:cNvPr id="22" name="Shape 20"/>
          <p:cNvSpPr/>
          <p:nvPr/>
        </p:nvSpPr>
        <p:spPr>
          <a:xfrm>
            <a:off x="4626864" y="1920240"/>
            <a:ext cx="2011680" cy="384048"/>
          </a:xfrm>
          <a:prstGeom prst="rect">
            <a:avLst/>
          </a:prstGeom>
          <a:solidFill>
            <a:srgbClr val="4A8A42"/>
          </a:solidFill>
          <a:ln w="10160">
            <a:solidFill>
              <a:srgbClr val="4A8A42"/>
            </a:solidFill>
            <a:prstDash val="solid"/>
          </a:ln>
        </p:spPr>
      </p:sp>
      <p:sp>
        <p:nvSpPr>
          <p:cNvPr id="23" name="Text 21"/>
          <p:cNvSpPr/>
          <p:nvPr/>
        </p:nvSpPr>
        <p:spPr>
          <a:xfrm>
            <a:off x="4700016" y="1965960"/>
            <a:ext cx="1874520" cy="292608"/>
          </a:xfrm>
          <a:prstGeom prst="rect">
            <a:avLst/>
          </a:prstGeom>
          <a:noFill/>
          <a:ln/>
        </p:spPr>
        <p:txBody>
          <a:bodyPr wrap="square" rtlCol="0" anchor="ctr"/>
          <a:lstStyle/>
          <a:p>
            <a:pPr indent="0" marL="0">
              <a:buNone/>
            </a:pPr>
            <a:r>
              <a:rPr lang="en-US" sz="1100" b="1" dirty="0">
                <a:solidFill>
                  <a:srgbClr val="FFFFFF"/>
                </a:solidFill>
              </a:rPr>
              <a:t>🫀 Pancréas</a:t>
            </a:r>
            <a:endParaRPr lang="en-US" sz="1100" dirty="0"/>
          </a:p>
        </p:txBody>
      </p:sp>
      <p:sp>
        <p:nvSpPr>
          <p:cNvPr id="24" name="Text 22"/>
          <p:cNvSpPr/>
          <p:nvPr/>
        </p:nvSpPr>
        <p:spPr>
          <a:xfrm>
            <a:off x="4718304" y="2395728"/>
            <a:ext cx="1847088" cy="1691640"/>
          </a:xfrm>
          <a:prstGeom prst="rect">
            <a:avLst/>
          </a:prstGeom>
          <a:noFill/>
          <a:ln/>
        </p:spPr>
        <p:txBody>
          <a:bodyPr wrap="square" rtlCol="0" anchor="ctr"/>
          <a:lstStyle/>
          <a:p>
            <a:pPr algn="ctr" indent="0" marL="0">
              <a:buNone/>
            </a:pPr>
            <a:r>
              <a:rPr lang="en-US" sz="1000" dirty="0">
                <a:solidFill>
                  <a:srgbClr val="4A6A48"/>
                </a:solidFill>
              </a:rPr>
              <a:t>Enzymes digestives</a:t>
            </a:r>
            <a:endParaRPr lang="en-US" sz="1000" dirty="0"/>
          </a:p>
          <a:p>
            <a:pPr algn="ctr" indent="0" marL="0">
              <a:buNone/>
            </a:pPr>
            <a:r>
              <a:rPr lang="en-US" sz="1000" dirty="0">
                <a:solidFill>
                  <a:srgbClr val="4A6A48"/>
                </a:solidFill>
              </a:rPr>
              <a:t>(lipase, amylase...)</a:t>
            </a:r>
            <a:endParaRPr lang="en-US" sz="1000" dirty="0"/>
          </a:p>
          <a:p>
            <a:pPr algn="ctr" indent="0" marL="0">
              <a:buNone/>
            </a:pPr>
            <a:r>
              <a:rPr lang="en-US" sz="1000" dirty="0">
                <a:solidFill>
                  <a:srgbClr val="4A6A48"/>
                </a:solidFill>
              </a:rPr>
              <a:t>→ digestion graisses</a:t>
            </a:r>
            <a:endParaRPr lang="en-US" sz="1000" dirty="0"/>
          </a:p>
        </p:txBody>
      </p:sp>
      <p:sp>
        <p:nvSpPr>
          <p:cNvPr id="25" name="Text 23"/>
          <p:cNvSpPr/>
          <p:nvPr/>
        </p:nvSpPr>
        <p:spPr>
          <a:xfrm>
            <a:off x="6638544" y="2834640"/>
            <a:ext cx="164592" cy="365760"/>
          </a:xfrm>
          <a:prstGeom prst="rect">
            <a:avLst/>
          </a:prstGeom>
          <a:noFill/>
          <a:ln/>
        </p:spPr>
        <p:txBody>
          <a:bodyPr wrap="square" rtlCol="0" anchor="ctr"/>
          <a:lstStyle/>
          <a:p>
            <a:pPr algn="ctr" indent="0" marL="0">
              <a:buNone/>
            </a:pPr>
            <a:r>
              <a:rPr lang="en-US" sz="1400" dirty="0">
                <a:solidFill>
                  <a:srgbClr val="B8860B"/>
                </a:solidFill>
              </a:rPr>
              <a:t>→</a:t>
            </a:r>
            <a:endParaRPr lang="en-US" sz="1400" dirty="0"/>
          </a:p>
        </p:txBody>
      </p:sp>
      <p:sp>
        <p:nvSpPr>
          <p:cNvPr id="26" name="Shape 24"/>
          <p:cNvSpPr/>
          <p:nvPr/>
        </p:nvSpPr>
        <p:spPr>
          <a:xfrm>
            <a:off x="6803136" y="1920240"/>
            <a:ext cx="2011680" cy="2331720"/>
          </a:xfrm>
          <a:prstGeom prst="rect">
            <a:avLst/>
          </a:prstGeom>
          <a:solidFill>
            <a:srgbClr val="FFFFFF"/>
          </a:solidFill>
          <a:ln w="10160">
            <a:solidFill>
              <a:srgbClr val="9DC498"/>
            </a:solidFill>
            <a:prstDash val="solid"/>
          </a:ln>
        </p:spPr>
      </p:sp>
      <p:sp>
        <p:nvSpPr>
          <p:cNvPr id="27" name="Shape 25"/>
          <p:cNvSpPr/>
          <p:nvPr/>
        </p:nvSpPr>
        <p:spPr>
          <a:xfrm>
            <a:off x="6803136" y="1920240"/>
            <a:ext cx="2011680" cy="384048"/>
          </a:xfrm>
          <a:prstGeom prst="rect">
            <a:avLst/>
          </a:prstGeom>
          <a:solidFill>
            <a:srgbClr val="4A8A42"/>
          </a:solidFill>
          <a:ln w="10160">
            <a:solidFill>
              <a:srgbClr val="4A8A42"/>
            </a:solidFill>
            <a:prstDash val="solid"/>
          </a:ln>
        </p:spPr>
      </p:sp>
      <p:sp>
        <p:nvSpPr>
          <p:cNvPr id="28" name="Text 26"/>
          <p:cNvSpPr/>
          <p:nvPr/>
        </p:nvSpPr>
        <p:spPr>
          <a:xfrm>
            <a:off x="6876288" y="1965960"/>
            <a:ext cx="1874520" cy="292608"/>
          </a:xfrm>
          <a:prstGeom prst="rect">
            <a:avLst/>
          </a:prstGeom>
          <a:noFill/>
          <a:ln/>
        </p:spPr>
        <p:txBody>
          <a:bodyPr wrap="square" rtlCol="0" anchor="ctr"/>
          <a:lstStyle/>
          <a:p>
            <a:pPr indent="0" marL="0">
              <a:buNone/>
            </a:pPr>
            <a:r>
              <a:rPr lang="en-US" sz="1100" b="1" dirty="0">
                <a:solidFill>
                  <a:srgbClr val="FFFFFF"/>
                </a:solidFill>
              </a:rPr>
              <a:t>🧬 Intestin grêle</a:t>
            </a:r>
            <a:endParaRPr lang="en-US" sz="1100" dirty="0"/>
          </a:p>
        </p:txBody>
      </p:sp>
      <p:sp>
        <p:nvSpPr>
          <p:cNvPr id="29" name="Text 27"/>
          <p:cNvSpPr/>
          <p:nvPr/>
        </p:nvSpPr>
        <p:spPr>
          <a:xfrm>
            <a:off x="6894576" y="2395728"/>
            <a:ext cx="1847088" cy="1691640"/>
          </a:xfrm>
          <a:prstGeom prst="rect">
            <a:avLst/>
          </a:prstGeom>
          <a:noFill/>
          <a:ln/>
        </p:spPr>
        <p:txBody>
          <a:bodyPr wrap="square" rtlCol="0" anchor="ctr"/>
          <a:lstStyle/>
          <a:p>
            <a:pPr algn="ctr" indent="0" marL="0">
              <a:buNone/>
            </a:pPr>
            <a:r>
              <a:rPr lang="en-US" sz="1000" dirty="0">
                <a:solidFill>
                  <a:srgbClr val="4A6A48"/>
                </a:solidFill>
              </a:rPr>
              <a:t>Absorption des</a:t>
            </a:r>
            <a:endParaRPr lang="en-US" sz="1000" dirty="0"/>
          </a:p>
          <a:p>
            <a:pPr algn="ctr" indent="0" marL="0">
              <a:buNone/>
            </a:pPr>
            <a:r>
              <a:rPr lang="en-US" sz="1000" dirty="0">
                <a:solidFill>
                  <a:srgbClr val="4A6A48"/>
                </a:solidFill>
              </a:rPr>
              <a:t>nutriments dans</a:t>
            </a:r>
            <a:endParaRPr lang="en-US" sz="1000" dirty="0"/>
          </a:p>
          <a:p>
            <a:pPr algn="ctr" indent="0" marL="0">
              <a:buNone/>
            </a:pPr>
            <a:r>
              <a:rPr lang="en-US" sz="1000" dirty="0">
                <a:solidFill>
                  <a:srgbClr val="4A6A48"/>
                </a:solidFill>
              </a:rPr>
              <a:t>le sang</a:t>
            </a:r>
            <a:endParaRPr lang="en-US" sz="1000" dirty="0"/>
          </a:p>
        </p:txBody>
      </p:sp>
      <p:sp>
        <p:nvSpPr>
          <p:cNvPr id="30" name="Shape 28"/>
          <p:cNvSpPr/>
          <p:nvPr/>
        </p:nvSpPr>
        <p:spPr>
          <a:xfrm>
            <a:off x="274320" y="4407408"/>
            <a:ext cx="8595360" cy="457200"/>
          </a:xfrm>
          <a:prstGeom prst="rect">
            <a:avLst/>
          </a:prstGeom>
          <a:solidFill>
            <a:srgbClr val="D4EAD0"/>
          </a:solidFill>
          <a:ln w="10160">
            <a:solidFill>
              <a:srgbClr val="9DC498"/>
            </a:solidFill>
            <a:prstDash val="solid"/>
          </a:ln>
        </p:spPr>
      </p:sp>
      <p:sp>
        <p:nvSpPr>
          <p:cNvPr id="31" name="Text 29"/>
          <p:cNvSpPr/>
          <p:nvPr/>
        </p:nvSpPr>
        <p:spPr>
          <a:xfrm>
            <a:off x="457200" y="4480560"/>
            <a:ext cx="8229600" cy="292608"/>
          </a:xfrm>
          <a:prstGeom prst="rect">
            <a:avLst/>
          </a:prstGeom>
          <a:noFill/>
          <a:ln/>
        </p:spPr>
        <p:txBody>
          <a:bodyPr wrap="square" rtlCol="0" anchor="ctr"/>
          <a:lstStyle/>
          <a:p>
            <a:pPr algn="ctr" indent="0" marL="0">
              <a:buNone/>
            </a:pPr>
            <a:r>
              <a:rPr lang="en-US" sz="1000" b="1" dirty="0">
                <a:solidFill>
                  <a:srgbClr val="2D5A27"/>
                </a:solidFill>
              </a:rPr>
              <a:t>💡  Pose ta fourchette entre chaque bouchée · Mâche 20-30 fois · Jusqu'à liquéfaction avant d'avaler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EE"/>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L'AMYLASE SALIVAIRE</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MASTICATION</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3 / 10</a:t>
            </a:r>
            <a:endParaRPr lang="en-US" sz="800" dirty="0"/>
          </a:p>
        </p:txBody>
      </p:sp>
      <p:sp>
        <p:nvSpPr>
          <p:cNvPr id="6" name="Text 4"/>
          <p:cNvSpPr/>
          <p:nvPr/>
        </p:nvSpPr>
        <p:spPr>
          <a:xfrm>
            <a:off x="457200" y="164592"/>
            <a:ext cx="8229600" cy="475488"/>
          </a:xfrm>
          <a:prstGeom prst="rect">
            <a:avLst/>
          </a:prstGeom>
          <a:noFill/>
          <a:ln/>
        </p:spPr>
        <p:txBody>
          <a:bodyPr wrap="square" rtlCol="0" anchor="ctr"/>
          <a:lstStyle/>
          <a:p>
            <a:pPr algn="ctr" indent="0" marL="0">
              <a:buNone/>
            </a:pPr>
            <a:r>
              <a:rPr lang="en-US" sz="2400" b="1" dirty="0">
                <a:solidFill>
                  <a:srgbClr val="1A3A18"/>
                </a:solidFill>
                <a:latin typeface="Georgia" pitchFamily="34" charset="0"/>
                <a:ea typeface="Georgia" pitchFamily="34" charset="-122"/>
                <a:cs typeface="Georgia" pitchFamily="34" charset="-120"/>
              </a:rPr>
              <a:t>Ce que la mastication déclenche dans ton corps</a:t>
            </a:r>
            <a:endParaRPr lang="en-US" sz="2400" dirty="0"/>
          </a:p>
        </p:txBody>
      </p:sp>
      <p:sp>
        <p:nvSpPr>
          <p:cNvPr id="7" name="Shape 5"/>
          <p:cNvSpPr/>
          <p:nvPr/>
        </p:nvSpPr>
        <p:spPr>
          <a:xfrm>
            <a:off x="4297680" y="749808"/>
            <a:ext cx="548640" cy="36576"/>
          </a:xfrm>
          <a:prstGeom prst="rect">
            <a:avLst/>
          </a:prstGeom>
          <a:solidFill>
            <a:srgbClr val="B8860B"/>
          </a:solidFill>
          <a:ln w="12700">
            <a:solidFill>
              <a:srgbClr val="B8860B"/>
            </a:solidFill>
            <a:prstDash val="solid"/>
          </a:ln>
        </p:spPr>
      </p:sp>
      <p:sp>
        <p:nvSpPr>
          <p:cNvPr id="8" name="Shape 6"/>
          <p:cNvSpPr/>
          <p:nvPr/>
        </p:nvSpPr>
        <p:spPr>
          <a:xfrm>
            <a:off x="274320" y="960120"/>
            <a:ext cx="8595360" cy="1207008"/>
          </a:xfrm>
          <a:prstGeom prst="rect">
            <a:avLst/>
          </a:prstGeom>
          <a:solidFill>
            <a:srgbClr val="FFFFFF"/>
          </a:solidFill>
          <a:ln w="10160">
            <a:solidFill>
              <a:srgbClr val="9DC498"/>
            </a:solidFill>
            <a:prstDash val="solid"/>
          </a:ln>
        </p:spPr>
      </p:sp>
      <p:sp>
        <p:nvSpPr>
          <p:cNvPr id="9" name="Shape 7"/>
          <p:cNvSpPr/>
          <p:nvPr/>
        </p:nvSpPr>
        <p:spPr>
          <a:xfrm>
            <a:off x="274320" y="960120"/>
            <a:ext cx="502920" cy="1207008"/>
          </a:xfrm>
          <a:prstGeom prst="rect">
            <a:avLst/>
          </a:prstGeom>
          <a:solidFill>
            <a:srgbClr val="D4EAD0"/>
          </a:solidFill>
          <a:ln w="10160">
            <a:solidFill>
              <a:srgbClr val="D4EAD0"/>
            </a:solidFill>
            <a:prstDash val="solid"/>
          </a:ln>
        </p:spPr>
      </p:sp>
      <p:sp>
        <p:nvSpPr>
          <p:cNvPr id="10" name="Text 8"/>
          <p:cNvSpPr/>
          <p:nvPr/>
        </p:nvSpPr>
        <p:spPr>
          <a:xfrm>
            <a:off x="274320" y="1234440"/>
            <a:ext cx="502920" cy="56692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841248" y="1005840"/>
            <a:ext cx="457200" cy="256032"/>
          </a:xfrm>
          <a:prstGeom prst="rect">
            <a:avLst/>
          </a:prstGeom>
          <a:noFill/>
          <a:ln/>
        </p:spPr>
        <p:txBody>
          <a:bodyPr wrap="square" rtlCol="0" anchor="ctr"/>
          <a:lstStyle/>
          <a:p>
            <a:pPr indent="0" marL="0">
              <a:buNone/>
            </a:pPr>
            <a:r>
              <a:rPr lang="en-US" sz="900" b="1" dirty="0">
                <a:solidFill>
                  <a:srgbClr val="B8860B"/>
                </a:solidFill>
              </a:rPr>
              <a:t>01</a:t>
            </a:r>
            <a:endParaRPr lang="en-US" sz="900" dirty="0"/>
          </a:p>
        </p:txBody>
      </p:sp>
      <p:sp>
        <p:nvSpPr>
          <p:cNvPr id="12" name="Text 10"/>
          <p:cNvSpPr/>
          <p:nvPr/>
        </p:nvSpPr>
        <p:spPr>
          <a:xfrm>
            <a:off x="841248" y="1216152"/>
            <a:ext cx="4389120" cy="347472"/>
          </a:xfrm>
          <a:prstGeom prst="rect">
            <a:avLst/>
          </a:prstGeom>
          <a:noFill/>
          <a:ln/>
        </p:spPr>
        <p:txBody>
          <a:bodyPr wrap="square" rtlCol="0" anchor="ctr"/>
          <a:lstStyle/>
          <a:p>
            <a:pPr indent="0" marL="0">
              <a:buNone/>
            </a:pPr>
            <a:r>
              <a:rPr lang="en-US" sz="1200" b="1" dirty="0">
                <a:solidFill>
                  <a:srgbClr val="2D5A27"/>
                </a:solidFill>
              </a:rPr>
              <a:t>L'amylase salivaire</a:t>
            </a:r>
            <a:endParaRPr lang="en-US" sz="1200" dirty="0"/>
          </a:p>
        </p:txBody>
      </p:sp>
      <p:sp>
        <p:nvSpPr>
          <p:cNvPr id="13" name="Text 11"/>
          <p:cNvSpPr/>
          <p:nvPr/>
        </p:nvSpPr>
        <p:spPr>
          <a:xfrm>
            <a:off x="841248" y="1554480"/>
            <a:ext cx="4572000" cy="530352"/>
          </a:xfrm>
          <a:prstGeom prst="rect">
            <a:avLst/>
          </a:prstGeom>
          <a:noFill/>
          <a:ln/>
        </p:spPr>
        <p:txBody>
          <a:bodyPr wrap="square" rtlCol="0" anchor="ctr"/>
          <a:lstStyle/>
          <a:p>
            <a:pPr indent="0" marL="0">
              <a:buNone/>
            </a:pPr>
            <a:r>
              <a:rPr lang="en-US" sz="950" dirty="0">
                <a:solidFill>
                  <a:srgbClr val="4A6A48"/>
                </a:solidFill>
              </a:rPr>
              <a:t>Dès la première mastication — tes glandes salivaires sécrètent de l'amylase. Cette enzyme commence à décomposer les glucides (pain, riz, pâtes) en sucres simples. Si tu avales trop vite, cette étape est sautée — et l'estomac reçoit un travail qu'il n'est pas seul capable de faire.</a:t>
            </a:r>
            <a:endParaRPr lang="en-US" sz="950" dirty="0"/>
          </a:p>
        </p:txBody>
      </p:sp>
      <p:sp>
        <p:nvSpPr>
          <p:cNvPr id="14" name="Shape 12"/>
          <p:cNvSpPr/>
          <p:nvPr/>
        </p:nvSpPr>
        <p:spPr>
          <a:xfrm>
            <a:off x="5532120" y="1051560"/>
            <a:ext cx="3200400" cy="1024128"/>
          </a:xfrm>
          <a:prstGeom prst="rect">
            <a:avLst/>
          </a:prstGeom>
          <a:solidFill>
            <a:srgbClr val="D4EAD0"/>
          </a:solidFill>
          <a:ln w="6350">
            <a:solidFill>
              <a:srgbClr val="9DC498"/>
            </a:solidFill>
            <a:prstDash val="solid"/>
          </a:ln>
        </p:spPr>
      </p:sp>
      <p:sp>
        <p:nvSpPr>
          <p:cNvPr id="15" name="Text 13"/>
          <p:cNvSpPr/>
          <p:nvPr/>
        </p:nvSpPr>
        <p:spPr>
          <a:xfrm>
            <a:off x="5623560" y="1124712"/>
            <a:ext cx="3017520" cy="868680"/>
          </a:xfrm>
          <a:prstGeom prst="rect">
            <a:avLst/>
          </a:prstGeom>
          <a:noFill/>
          <a:ln/>
        </p:spPr>
        <p:txBody>
          <a:bodyPr wrap="square" rtlCol="0" anchor="ctr"/>
          <a:lstStyle/>
          <a:p>
            <a:pPr indent="0" marL="0">
              <a:buNone/>
            </a:pPr>
            <a:r>
              <a:rPr lang="en-US" sz="900" i="1" dirty="0">
                <a:solidFill>
                  <a:srgbClr val="2D5A27"/>
                </a:solidFill>
              </a:rPr>
              <a:t>💡 Sans mastication = glucides non pré-digérés → fermentation intestinale → ballonnements, gaz, inflammation</a:t>
            </a:r>
            <a:endParaRPr lang="en-US" sz="900" dirty="0"/>
          </a:p>
        </p:txBody>
      </p:sp>
      <p:sp>
        <p:nvSpPr>
          <p:cNvPr id="16" name="Shape 14"/>
          <p:cNvSpPr/>
          <p:nvPr/>
        </p:nvSpPr>
        <p:spPr>
          <a:xfrm>
            <a:off x="274320" y="2313432"/>
            <a:ext cx="8595360" cy="1207008"/>
          </a:xfrm>
          <a:prstGeom prst="rect">
            <a:avLst/>
          </a:prstGeom>
          <a:solidFill>
            <a:srgbClr val="FFFFFF"/>
          </a:solidFill>
          <a:ln w="10160">
            <a:solidFill>
              <a:srgbClr val="9DC498"/>
            </a:solidFill>
            <a:prstDash val="solid"/>
          </a:ln>
        </p:spPr>
      </p:sp>
      <p:sp>
        <p:nvSpPr>
          <p:cNvPr id="17" name="Shape 15"/>
          <p:cNvSpPr/>
          <p:nvPr/>
        </p:nvSpPr>
        <p:spPr>
          <a:xfrm>
            <a:off x="274320" y="2313432"/>
            <a:ext cx="502920" cy="1207008"/>
          </a:xfrm>
          <a:prstGeom prst="rect">
            <a:avLst/>
          </a:prstGeom>
          <a:solidFill>
            <a:srgbClr val="D4EAD0"/>
          </a:solidFill>
          <a:ln w="10160">
            <a:solidFill>
              <a:srgbClr val="D4EAD0"/>
            </a:solidFill>
            <a:prstDash val="solid"/>
          </a:ln>
        </p:spPr>
      </p:sp>
      <p:sp>
        <p:nvSpPr>
          <p:cNvPr id="18" name="Text 16"/>
          <p:cNvSpPr/>
          <p:nvPr/>
        </p:nvSpPr>
        <p:spPr>
          <a:xfrm>
            <a:off x="274320" y="2587752"/>
            <a:ext cx="502920" cy="56692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9" name="Text 17"/>
          <p:cNvSpPr/>
          <p:nvPr/>
        </p:nvSpPr>
        <p:spPr>
          <a:xfrm>
            <a:off x="841248" y="2359152"/>
            <a:ext cx="457200" cy="256032"/>
          </a:xfrm>
          <a:prstGeom prst="rect">
            <a:avLst/>
          </a:prstGeom>
          <a:noFill/>
          <a:ln/>
        </p:spPr>
        <p:txBody>
          <a:bodyPr wrap="square" rtlCol="0" anchor="ctr"/>
          <a:lstStyle/>
          <a:p>
            <a:pPr indent="0" marL="0">
              <a:buNone/>
            </a:pPr>
            <a:r>
              <a:rPr lang="en-US" sz="900" b="1" dirty="0">
                <a:solidFill>
                  <a:srgbClr val="B8860B"/>
                </a:solidFill>
              </a:rPr>
              <a:t>02</a:t>
            </a:r>
            <a:endParaRPr lang="en-US" sz="900" dirty="0"/>
          </a:p>
        </p:txBody>
      </p:sp>
      <p:sp>
        <p:nvSpPr>
          <p:cNvPr id="20" name="Text 18"/>
          <p:cNvSpPr/>
          <p:nvPr/>
        </p:nvSpPr>
        <p:spPr>
          <a:xfrm>
            <a:off x="841248" y="2569464"/>
            <a:ext cx="4389120" cy="347472"/>
          </a:xfrm>
          <a:prstGeom prst="rect">
            <a:avLst/>
          </a:prstGeom>
          <a:noFill/>
          <a:ln/>
        </p:spPr>
        <p:txBody>
          <a:bodyPr wrap="square" rtlCol="0" anchor="ctr"/>
          <a:lstStyle/>
          <a:p>
            <a:pPr indent="0" marL="0">
              <a:buNone/>
            </a:pPr>
            <a:r>
              <a:rPr lang="en-US" sz="1200" b="1" dirty="0">
                <a:solidFill>
                  <a:srgbClr val="2D5A27"/>
                </a:solidFill>
              </a:rPr>
              <a:t>Les signaux nerveux</a:t>
            </a:r>
            <a:endParaRPr lang="en-US" sz="1200" dirty="0"/>
          </a:p>
        </p:txBody>
      </p:sp>
      <p:sp>
        <p:nvSpPr>
          <p:cNvPr id="21" name="Text 19"/>
          <p:cNvSpPr/>
          <p:nvPr/>
        </p:nvSpPr>
        <p:spPr>
          <a:xfrm>
            <a:off x="841248" y="2907792"/>
            <a:ext cx="4572000" cy="530352"/>
          </a:xfrm>
          <a:prstGeom prst="rect">
            <a:avLst/>
          </a:prstGeom>
          <a:noFill/>
          <a:ln/>
        </p:spPr>
        <p:txBody>
          <a:bodyPr wrap="square" rtlCol="0" anchor="ctr"/>
          <a:lstStyle/>
          <a:p>
            <a:pPr indent="0" marL="0">
              <a:buNone/>
            </a:pPr>
            <a:r>
              <a:rPr lang="en-US" sz="950" dirty="0">
                <a:solidFill>
                  <a:srgbClr val="4A6A48"/>
                </a:solidFill>
              </a:rPr>
              <a:t>En mastiquant, tu envoies des signaux via le nerf vague à tout le système digestif. L'estomac prépare son acide chlorhydrique. Le pancréas prépare ses enzymes. La vésicule biliaire prépare la bile. C'est la phase céphalique de la digestion — elle commence avant même que les aliments arrivent dans l'estomac.</a:t>
            </a:r>
            <a:endParaRPr lang="en-US" sz="950" dirty="0"/>
          </a:p>
        </p:txBody>
      </p:sp>
      <p:sp>
        <p:nvSpPr>
          <p:cNvPr id="22" name="Shape 20"/>
          <p:cNvSpPr/>
          <p:nvPr/>
        </p:nvSpPr>
        <p:spPr>
          <a:xfrm>
            <a:off x="5532120" y="2404872"/>
            <a:ext cx="3200400" cy="1024128"/>
          </a:xfrm>
          <a:prstGeom prst="rect">
            <a:avLst/>
          </a:prstGeom>
          <a:solidFill>
            <a:srgbClr val="D4EAD0"/>
          </a:solidFill>
          <a:ln w="6350">
            <a:solidFill>
              <a:srgbClr val="9DC498"/>
            </a:solidFill>
            <a:prstDash val="solid"/>
          </a:ln>
        </p:spPr>
      </p:sp>
      <p:sp>
        <p:nvSpPr>
          <p:cNvPr id="23" name="Text 21"/>
          <p:cNvSpPr/>
          <p:nvPr/>
        </p:nvSpPr>
        <p:spPr>
          <a:xfrm>
            <a:off x="5623560" y="2478024"/>
            <a:ext cx="3017520" cy="868680"/>
          </a:xfrm>
          <a:prstGeom prst="rect">
            <a:avLst/>
          </a:prstGeom>
          <a:noFill/>
          <a:ln/>
        </p:spPr>
        <p:txBody>
          <a:bodyPr wrap="square" rtlCol="0" anchor="ctr"/>
          <a:lstStyle/>
          <a:p>
            <a:pPr indent="0" marL="0">
              <a:buNone/>
            </a:pPr>
            <a:r>
              <a:rPr lang="en-US" sz="900" i="1" dirty="0">
                <a:solidFill>
                  <a:srgbClr val="2D5A27"/>
                </a:solidFill>
              </a:rPr>
              <a:t>💡 30 secondes d'attention avant de manger (regarder, sentir) active déjà cette phase céphalique</a:t>
            </a:r>
            <a:endParaRPr lang="en-US" sz="900" dirty="0"/>
          </a:p>
        </p:txBody>
      </p:sp>
      <p:sp>
        <p:nvSpPr>
          <p:cNvPr id="24" name="Shape 22"/>
          <p:cNvSpPr/>
          <p:nvPr/>
        </p:nvSpPr>
        <p:spPr>
          <a:xfrm>
            <a:off x="274320" y="3666744"/>
            <a:ext cx="8595360" cy="1207008"/>
          </a:xfrm>
          <a:prstGeom prst="rect">
            <a:avLst/>
          </a:prstGeom>
          <a:solidFill>
            <a:srgbClr val="FFFFFF"/>
          </a:solidFill>
          <a:ln w="10160">
            <a:solidFill>
              <a:srgbClr val="9DC498"/>
            </a:solidFill>
            <a:prstDash val="solid"/>
          </a:ln>
        </p:spPr>
      </p:sp>
      <p:sp>
        <p:nvSpPr>
          <p:cNvPr id="25" name="Shape 23"/>
          <p:cNvSpPr/>
          <p:nvPr/>
        </p:nvSpPr>
        <p:spPr>
          <a:xfrm>
            <a:off x="274320" y="3666744"/>
            <a:ext cx="502920" cy="1207008"/>
          </a:xfrm>
          <a:prstGeom prst="rect">
            <a:avLst/>
          </a:prstGeom>
          <a:solidFill>
            <a:srgbClr val="D4EAD0"/>
          </a:solidFill>
          <a:ln w="10160">
            <a:solidFill>
              <a:srgbClr val="D4EAD0"/>
            </a:solidFill>
            <a:prstDash val="solid"/>
          </a:ln>
        </p:spPr>
      </p:sp>
      <p:sp>
        <p:nvSpPr>
          <p:cNvPr id="26" name="Text 24"/>
          <p:cNvSpPr/>
          <p:nvPr/>
        </p:nvSpPr>
        <p:spPr>
          <a:xfrm>
            <a:off x="274320" y="3941064"/>
            <a:ext cx="502920" cy="566928"/>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841248" y="3712464"/>
            <a:ext cx="457200" cy="256032"/>
          </a:xfrm>
          <a:prstGeom prst="rect">
            <a:avLst/>
          </a:prstGeom>
          <a:noFill/>
          <a:ln/>
        </p:spPr>
        <p:txBody>
          <a:bodyPr wrap="square" rtlCol="0" anchor="ctr"/>
          <a:lstStyle/>
          <a:p>
            <a:pPr indent="0" marL="0">
              <a:buNone/>
            </a:pPr>
            <a:r>
              <a:rPr lang="en-US" sz="900" b="1" dirty="0">
                <a:solidFill>
                  <a:srgbClr val="B8860B"/>
                </a:solidFill>
              </a:rPr>
              <a:t>03</a:t>
            </a:r>
            <a:endParaRPr lang="en-US" sz="900" dirty="0"/>
          </a:p>
        </p:txBody>
      </p:sp>
      <p:sp>
        <p:nvSpPr>
          <p:cNvPr id="28" name="Text 26"/>
          <p:cNvSpPr/>
          <p:nvPr/>
        </p:nvSpPr>
        <p:spPr>
          <a:xfrm>
            <a:off x="841248" y="3922776"/>
            <a:ext cx="4389120" cy="347472"/>
          </a:xfrm>
          <a:prstGeom prst="rect">
            <a:avLst/>
          </a:prstGeom>
          <a:noFill/>
          <a:ln/>
        </p:spPr>
        <p:txBody>
          <a:bodyPr wrap="square" rtlCol="0" anchor="ctr"/>
          <a:lstStyle/>
          <a:p>
            <a:pPr indent="0" marL="0">
              <a:buNone/>
            </a:pPr>
            <a:r>
              <a:rPr lang="en-US" sz="1200" b="1" dirty="0">
                <a:solidFill>
                  <a:srgbClr val="2D5A27"/>
                </a:solidFill>
              </a:rPr>
              <a:t>Les signaux de satiété</a:t>
            </a:r>
            <a:endParaRPr lang="en-US" sz="1200" dirty="0"/>
          </a:p>
        </p:txBody>
      </p:sp>
      <p:sp>
        <p:nvSpPr>
          <p:cNvPr id="29" name="Text 27"/>
          <p:cNvSpPr/>
          <p:nvPr/>
        </p:nvSpPr>
        <p:spPr>
          <a:xfrm>
            <a:off x="841248" y="4261104"/>
            <a:ext cx="4572000" cy="530352"/>
          </a:xfrm>
          <a:prstGeom prst="rect">
            <a:avLst/>
          </a:prstGeom>
          <a:noFill/>
          <a:ln/>
        </p:spPr>
        <p:txBody>
          <a:bodyPr wrap="square" rtlCol="0" anchor="ctr"/>
          <a:lstStyle/>
          <a:p>
            <a:pPr indent="0" marL="0">
              <a:buNone/>
            </a:pPr>
            <a:r>
              <a:rPr lang="en-US" sz="950" dirty="0">
                <a:solidFill>
                  <a:srgbClr val="4A6A48"/>
                </a:solidFill>
              </a:rPr>
              <a:t>Les hormones de satiété mettent 15 à 20 minutes pour atteindre le cerveau. Si tu manges ton repas en 8 minutes — ces signaux n'ont pas eu le temps d'arriver. Tu peux manger bien plus que nécessaire sans t'en rendre compte. Mâcher lentement = manger la juste quantité.</a:t>
            </a:r>
            <a:endParaRPr lang="en-US" sz="950" dirty="0"/>
          </a:p>
        </p:txBody>
      </p:sp>
      <p:sp>
        <p:nvSpPr>
          <p:cNvPr id="30" name="Shape 28"/>
          <p:cNvSpPr/>
          <p:nvPr/>
        </p:nvSpPr>
        <p:spPr>
          <a:xfrm>
            <a:off x="5532120" y="3758184"/>
            <a:ext cx="3200400" cy="1024128"/>
          </a:xfrm>
          <a:prstGeom prst="rect">
            <a:avLst/>
          </a:prstGeom>
          <a:solidFill>
            <a:srgbClr val="D4EAD0"/>
          </a:solidFill>
          <a:ln w="6350">
            <a:solidFill>
              <a:srgbClr val="9DC498"/>
            </a:solidFill>
            <a:prstDash val="solid"/>
          </a:ln>
        </p:spPr>
      </p:sp>
      <p:sp>
        <p:nvSpPr>
          <p:cNvPr id="31" name="Text 29"/>
          <p:cNvSpPr/>
          <p:nvPr/>
        </p:nvSpPr>
        <p:spPr>
          <a:xfrm>
            <a:off x="5623560" y="3831336"/>
            <a:ext cx="3017520" cy="868680"/>
          </a:xfrm>
          <a:prstGeom prst="rect">
            <a:avLst/>
          </a:prstGeom>
          <a:noFill/>
          <a:ln/>
        </p:spPr>
        <p:txBody>
          <a:bodyPr wrap="square" rtlCol="0" anchor="ctr"/>
          <a:lstStyle/>
          <a:p>
            <a:pPr indent="0" marL="0">
              <a:buNone/>
            </a:pPr>
            <a:r>
              <a:rPr lang="en-US" sz="900" i="1" dirty="0">
                <a:solidFill>
                  <a:srgbClr val="2D5A27"/>
                </a:solidFill>
              </a:rPr>
              <a:t>💡 Études : manger lentement réduit l'apport calorique de 10-15% spontanément, sans restriction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DF8"/>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LE NERF VAGUE</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NERF VAGUE</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4 / 10</a:t>
            </a:r>
            <a:endParaRPr lang="en-US" sz="800" dirty="0"/>
          </a:p>
        </p:txBody>
      </p:sp>
      <p:sp>
        <p:nvSpPr>
          <p:cNvPr id="6" name="Text 4"/>
          <p:cNvSpPr/>
          <p:nvPr/>
        </p:nvSpPr>
        <p:spPr>
          <a:xfrm>
            <a:off x="457200" y="164592"/>
            <a:ext cx="8229600" cy="475488"/>
          </a:xfrm>
          <a:prstGeom prst="rect">
            <a:avLst/>
          </a:prstGeom>
          <a:noFill/>
          <a:ln/>
        </p:spPr>
        <p:txBody>
          <a:bodyPr wrap="square" rtlCol="0" anchor="ctr"/>
          <a:lstStyle/>
          <a:p>
            <a:pPr algn="ctr" indent="0" marL="0">
              <a:buNone/>
            </a:pPr>
            <a:r>
              <a:rPr lang="en-US" sz="2400" b="1" dirty="0">
                <a:solidFill>
                  <a:srgbClr val="1A3A18"/>
                </a:solidFill>
                <a:latin typeface="Georgia" pitchFamily="34" charset="0"/>
                <a:ea typeface="Georgia" pitchFamily="34" charset="-122"/>
                <a:cs typeface="Georgia" pitchFamily="34" charset="-120"/>
              </a:rPr>
              <a:t>Le nerf vague — le chef d'orchestre de ta digestion</a:t>
            </a:r>
            <a:endParaRPr lang="en-US" sz="2400" dirty="0"/>
          </a:p>
        </p:txBody>
      </p:sp>
      <p:sp>
        <p:nvSpPr>
          <p:cNvPr id="7" name="Shape 5"/>
          <p:cNvSpPr/>
          <p:nvPr/>
        </p:nvSpPr>
        <p:spPr>
          <a:xfrm>
            <a:off x="4297680" y="749808"/>
            <a:ext cx="548640" cy="36576"/>
          </a:xfrm>
          <a:prstGeom prst="rect">
            <a:avLst/>
          </a:prstGeom>
          <a:solidFill>
            <a:srgbClr val="B8860B"/>
          </a:solidFill>
          <a:ln w="12700">
            <a:solidFill>
              <a:srgbClr val="B8860B"/>
            </a:solidFill>
            <a:prstDash val="solid"/>
          </a:ln>
        </p:spPr>
      </p:sp>
      <p:sp>
        <p:nvSpPr>
          <p:cNvPr id="8" name="Shape 6"/>
          <p:cNvSpPr/>
          <p:nvPr/>
        </p:nvSpPr>
        <p:spPr>
          <a:xfrm>
            <a:off x="274320" y="932688"/>
            <a:ext cx="8595360" cy="502920"/>
          </a:xfrm>
          <a:prstGeom prst="rect">
            <a:avLst/>
          </a:prstGeom>
          <a:solidFill>
            <a:srgbClr val="2D5A27"/>
          </a:solidFill>
          <a:ln w="10160">
            <a:solidFill>
              <a:srgbClr val="2D5A27"/>
            </a:solidFill>
            <a:prstDash val="solid"/>
          </a:ln>
        </p:spPr>
      </p:sp>
      <p:sp>
        <p:nvSpPr>
          <p:cNvPr id="9" name="Text 7"/>
          <p:cNvSpPr/>
          <p:nvPr/>
        </p:nvSpPr>
        <p:spPr>
          <a:xfrm>
            <a:off x="457200" y="1005840"/>
            <a:ext cx="8229600" cy="347472"/>
          </a:xfrm>
          <a:prstGeom prst="rect">
            <a:avLst/>
          </a:prstGeom>
          <a:noFill/>
          <a:ln/>
        </p:spPr>
        <p:txBody>
          <a:bodyPr wrap="square" rtlCol="0" anchor="ctr"/>
          <a:lstStyle/>
          <a:p>
            <a:pPr algn="ctr" indent="0" marL="0">
              <a:buNone/>
            </a:pPr>
            <a:r>
              <a:rPr lang="en-US" sz="1100" i="1" dirty="0">
                <a:solidFill>
                  <a:srgbClr val="E8C040"/>
                </a:solidFill>
              </a:rPr>
              <a:t>Le plus long nerf du corps — du cerveau jusqu'à l'abdomen. Chef d'orchestre du système nerveux parasympathique.</a:t>
            </a:r>
            <a:endParaRPr lang="en-US" sz="1100" dirty="0"/>
          </a:p>
        </p:txBody>
      </p:sp>
      <p:sp>
        <p:nvSpPr>
          <p:cNvPr id="10" name="Text 8"/>
          <p:cNvSpPr/>
          <p:nvPr/>
        </p:nvSpPr>
        <p:spPr>
          <a:xfrm>
            <a:off x="274320" y="1572768"/>
            <a:ext cx="8595360" cy="292608"/>
          </a:xfrm>
          <a:prstGeom prst="rect">
            <a:avLst/>
          </a:prstGeom>
          <a:noFill/>
          <a:ln/>
        </p:spPr>
        <p:txBody>
          <a:bodyPr wrap="square" rtlCol="0" anchor="ctr"/>
          <a:lstStyle/>
          <a:p>
            <a:pPr indent="0" marL="0">
              <a:buNone/>
            </a:pPr>
            <a:r>
              <a:rPr lang="en-US" sz="1100" b="1" dirty="0">
                <a:solidFill>
                  <a:srgbClr val="1A3A18"/>
                </a:solidFill>
              </a:rPr>
              <a:t>Ton corps a 2 modes de fonctionnement :</a:t>
            </a:r>
            <a:endParaRPr lang="en-US" sz="1100" dirty="0"/>
          </a:p>
        </p:txBody>
      </p:sp>
      <p:sp>
        <p:nvSpPr>
          <p:cNvPr id="11" name="Shape 9"/>
          <p:cNvSpPr/>
          <p:nvPr/>
        </p:nvSpPr>
        <p:spPr>
          <a:xfrm>
            <a:off x="274320" y="1901952"/>
            <a:ext cx="4114800" cy="1627632"/>
          </a:xfrm>
          <a:prstGeom prst="rect">
            <a:avLst/>
          </a:prstGeom>
          <a:solidFill>
            <a:srgbClr val="FFF0F0"/>
          </a:solidFill>
          <a:ln w="10160">
            <a:solidFill>
              <a:srgbClr val="E08080"/>
            </a:solidFill>
            <a:prstDash val="solid"/>
          </a:ln>
        </p:spPr>
      </p:sp>
      <p:sp>
        <p:nvSpPr>
          <p:cNvPr id="12" name="Shape 10"/>
          <p:cNvSpPr/>
          <p:nvPr/>
        </p:nvSpPr>
        <p:spPr>
          <a:xfrm>
            <a:off x="274320" y="1901952"/>
            <a:ext cx="4114800" cy="384048"/>
          </a:xfrm>
          <a:prstGeom prst="rect">
            <a:avLst/>
          </a:prstGeom>
          <a:solidFill>
            <a:srgbClr val="C04040"/>
          </a:solidFill>
          <a:ln w="10160">
            <a:solidFill>
              <a:srgbClr val="C04040"/>
            </a:solidFill>
            <a:prstDash val="solid"/>
          </a:ln>
        </p:spPr>
      </p:sp>
      <p:sp>
        <p:nvSpPr>
          <p:cNvPr id="13" name="Text 11"/>
          <p:cNvSpPr/>
          <p:nvPr/>
        </p:nvSpPr>
        <p:spPr>
          <a:xfrm>
            <a:off x="347472" y="1938528"/>
            <a:ext cx="3977640" cy="310896"/>
          </a:xfrm>
          <a:prstGeom prst="rect">
            <a:avLst/>
          </a:prstGeom>
          <a:noFill/>
          <a:ln/>
        </p:spPr>
        <p:txBody>
          <a:bodyPr wrap="square" rtlCol="0" anchor="ctr"/>
          <a:lstStyle/>
          <a:p>
            <a:pPr indent="0" marL="0">
              <a:buNone/>
            </a:pPr>
            <a:r>
              <a:rPr lang="en-US" sz="1200" b="1" dirty="0">
                <a:solidFill>
                  <a:srgbClr val="FFFFFF"/>
                </a:solidFill>
              </a:rPr>
              <a:t>⚡ Mode SYMPATHIQUE</a:t>
            </a:r>
            <a:endParaRPr lang="en-US" sz="1200" dirty="0"/>
          </a:p>
        </p:txBody>
      </p:sp>
      <p:sp>
        <p:nvSpPr>
          <p:cNvPr id="14" name="Text 12"/>
          <p:cNvSpPr/>
          <p:nvPr/>
        </p:nvSpPr>
        <p:spPr>
          <a:xfrm>
            <a:off x="365760" y="2359152"/>
            <a:ext cx="3931920" cy="1078992"/>
          </a:xfrm>
          <a:prstGeom prst="rect">
            <a:avLst/>
          </a:prstGeom>
          <a:noFill/>
          <a:ln/>
        </p:spPr>
        <p:txBody>
          <a:bodyPr wrap="square" rtlCol="0" anchor="ctr"/>
          <a:lstStyle/>
          <a:p>
            <a:pPr indent="0" marL="0">
              <a:buNone/>
            </a:pPr>
            <a:r>
              <a:rPr lang="en-US" sz="1000" dirty="0">
                <a:solidFill>
                  <a:srgbClr val="4A6A48"/>
                </a:solidFill>
              </a:rPr>
              <a:t>"Combat ou fuite"</a:t>
            </a:r>
            <a:endParaRPr lang="en-US" sz="1000" dirty="0"/>
          </a:p>
          <a:p>
            <a:pPr indent="0" marL="0">
              <a:buNone/>
            </a:pPr>
            <a:endParaRPr lang="en-US" sz="1000" dirty="0"/>
          </a:p>
          <a:p>
            <a:pPr indent="0" marL="0">
              <a:buNone/>
            </a:pPr>
            <a:r>
              <a:rPr lang="en-US" sz="1000" dirty="0">
                <a:solidFill>
                  <a:srgbClr val="4A6A48"/>
                </a:solidFill>
              </a:rPr>
              <a:t>→ Corps en état d'alerte</a:t>
            </a:r>
            <a:endParaRPr lang="en-US" sz="1000" dirty="0"/>
          </a:p>
          <a:p>
            <a:pPr indent="0" marL="0">
              <a:buNone/>
            </a:pPr>
            <a:r>
              <a:rPr lang="en-US" sz="1000" dirty="0">
                <a:solidFill>
                  <a:srgbClr val="4A6A48"/>
                </a:solidFill>
              </a:rPr>
              <a:t>→ Digestion MISE EN PAUSE</a:t>
            </a:r>
            <a:endParaRPr lang="en-US" sz="1000" dirty="0"/>
          </a:p>
          <a:p>
            <a:pPr indent="0" marL="0">
              <a:buNone/>
            </a:pPr>
            <a:r>
              <a:rPr lang="en-US" sz="1000" dirty="0">
                <a:solidFill>
                  <a:srgbClr val="4A6A48"/>
                </a:solidFill>
              </a:rPr>
              <a:t>→ Enzymes digestives à 30%</a:t>
            </a:r>
            <a:endParaRPr lang="en-US" sz="1000" dirty="0"/>
          </a:p>
          <a:p>
            <a:pPr indent="0" marL="0">
              <a:buNone/>
            </a:pPr>
            <a:r>
              <a:rPr lang="en-US" sz="1000" dirty="0">
                <a:solidFill>
                  <a:srgbClr val="4A6A48"/>
                </a:solidFill>
              </a:rPr>
              <a:t>→ Nutriments mal absorbés</a:t>
            </a:r>
            <a:endParaRPr lang="en-US" sz="1000" dirty="0"/>
          </a:p>
          <a:p>
            <a:pPr indent="0" marL="0">
              <a:buNone/>
            </a:pPr>
            <a:r>
              <a:rPr lang="en-US" sz="1000" dirty="0">
                <a:solidFill>
                  <a:srgbClr val="4A6A48"/>
                </a:solidFill>
              </a:rPr>
              <a:t>→ Fermentation → inflammation</a:t>
            </a:r>
            <a:endParaRPr lang="en-US" sz="1000" dirty="0"/>
          </a:p>
        </p:txBody>
      </p:sp>
      <p:sp>
        <p:nvSpPr>
          <p:cNvPr id="15" name="Shape 13"/>
          <p:cNvSpPr/>
          <p:nvPr/>
        </p:nvSpPr>
        <p:spPr>
          <a:xfrm>
            <a:off x="4754880" y="1901952"/>
            <a:ext cx="4114800" cy="1627632"/>
          </a:xfrm>
          <a:prstGeom prst="rect">
            <a:avLst/>
          </a:prstGeom>
          <a:solidFill>
            <a:srgbClr val="D4EAD0"/>
          </a:solidFill>
          <a:ln w="10160">
            <a:solidFill>
              <a:srgbClr val="9DC498"/>
            </a:solidFill>
            <a:prstDash val="solid"/>
          </a:ln>
        </p:spPr>
      </p:sp>
      <p:sp>
        <p:nvSpPr>
          <p:cNvPr id="16" name="Shape 14"/>
          <p:cNvSpPr/>
          <p:nvPr/>
        </p:nvSpPr>
        <p:spPr>
          <a:xfrm>
            <a:off x="4754880" y="1901952"/>
            <a:ext cx="4114800" cy="384048"/>
          </a:xfrm>
          <a:prstGeom prst="rect">
            <a:avLst/>
          </a:prstGeom>
          <a:solidFill>
            <a:srgbClr val="2D5A27"/>
          </a:solidFill>
          <a:ln w="10160">
            <a:solidFill>
              <a:srgbClr val="2D5A27"/>
            </a:solidFill>
            <a:prstDash val="solid"/>
          </a:ln>
        </p:spPr>
      </p:sp>
      <p:sp>
        <p:nvSpPr>
          <p:cNvPr id="17" name="Text 15"/>
          <p:cNvSpPr/>
          <p:nvPr/>
        </p:nvSpPr>
        <p:spPr>
          <a:xfrm>
            <a:off x="4828032" y="1938528"/>
            <a:ext cx="3977640" cy="310896"/>
          </a:xfrm>
          <a:prstGeom prst="rect">
            <a:avLst/>
          </a:prstGeom>
          <a:noFill/>
          <a:ln/>
        </p:spPr>
        <p:txBody>
          <a:bodyPr wrap="square" rtlCol="0" anchor="ctr"/>
          <a:lstStyle/>
          <a:p>
            <a:pPr indent="0" marL="0">
              <a:buNone/>
            </a:pPr>
            <a:r>
              <a:rPr lang="en-US" sz="1200" b="1" dirty="0">
                <a:solidFill>
                  <a:srgbClr val="FFFFFF"/>
                </a:solidFill>
              </a:rPr>
              <a:t>🌿 Mode PARASYMPATHIQUE</a:t>
            </a:r>
            <a:endParaRPr lang="en-US" sz="1200" dirty="0"/>
          </a:p>
        </p:txBody>
      </p:sp>
      <p:sp>
        <p:nvSpPr>
          <p:cNvPr id="18" name="Text 16"/>
          <p:cNvSpPr/>
          <p:nvPr/>
        </p:nvSpPr>
        <p:spPr>
          <a:xfrm>
            <a:off x="4846320" y="2359152"/>
            <a:ext cx="3931920" cy="1078992"/>
          </a:xfrm>
          <a:prstGeom prst="rect">
            <a:avLst/>
          </a:prstGeom>
          <a:noFill/>
          <a:ln/>
        </p:spPr>
        <p:txBody>
          <a:bodyPr wrap="square" rtlCol="0" anchor="ctr"/>
          <a:lstStyle/>
          <a:p>
            <a:pPr indent="0" marL="0">
              <a:buNone/>
            </a:pPr>
            <a:r>
              <a:rPr lang="en-US" sz="1000" dirty="0">
                <a:solidFill>
                  <a:srgbClr val="4A6A48"/>
                </a:solidFill>
              </a:rPr>
              <a:t>"Repos et digestion"</a:t>
            </a:r>
            <a:endParaRPr lang="en-US" sz="1000" dirty="0"/>
          </a:p>
          <a:p>
            <a:pPr indent="0" marL="0">
              <a:buNone/>
            </a:pPr>
            <a:endParaRPr lang="en-US" sz="1000" dirty="0"/>
          </a:p>
          <a:p>
            <a:pPr indent="0" marL="0">
              <a:buNone/>
            </a:pPr>
            <a:r>
              <a:rPr lang="en-US" sz="1000" dirty="0">
                <a:solidFill>
                  <a:srgbClr val="4A6A48"/>
                </a:solidFill>
              </a:rPr>
              <a:t>→ Corps détendu</a:t>
            </a:r>
            <a:endParaRPr lang="en-US" sz="1000" dirty="0"/>
          </a:p>
          <a:p>
            <a:pPr indent="0" marL="0">
              <a:buNone/>
            </a:pPr>
            <a:r>
              <a:rPr lang="en-US" sz="1000" dirty="0">
                <a:solidFill>
                  <a:srgbClr val="4A6A48"/>
                </a:solidFill>
              </a:rPr>
              <a:t>→ Digestion OPTIMALE</a:t>
            </a:r>
            <a:endParaRPr lang="en-US" sz="1000" dirty="0"/>
          </a:p>
          <a:p>
            <a:pPr indent="0" marL="0">
              <a:buNone/>
            </a:pPr>
            <a:r>
              <a:rPr lang="en-US" sz="1000" dirty="0">
                <a:solidFill>
                  <a:srgbClr val="4A6A48"/>
                </a:solidFill>
              </a:rPr>
              <a:t>→ Enzymes à 100%</a:t>
            </a:r>
            <a:endParaRPr lang="en-US" sz="1000" dirty="0"/>
          </a:p>
          <a:p>
            <a:pPr indent="0" marL="0">
              <a:buNone/>
            </a:pPr>
            <a:r>
              <a:rPr lang="en-US" sz="1000" dirty="0">
                <a:solidFill>
                  <a:srgbClr val="4A6A48"/>
                </a:solidFill>
              </a:rPr>
              <a:t>→ Nutriments bien absorbés</a:t>
            </a:r>
            <a:endParaRPr lang="en-US" sz="1000" dirty="0"/>
          </a:p>
          <a:p>
            <a:pPr indent="0" marL="0">
              <a:buNone/>
            </a:pPr>
            <a:r>
              <a:rPr lang="en-US" sz="1000" dirty="0">
                <a:solidFill>
                  <a:srgbClr val="4A6A48"/>
                </a:solidFill>
              </a:rPr>
              <a:t>→ Moins d'inflammation</a:t>
            </a:r>
            <a:endParaRPr lang="en-US" sz="1000" dirty="0"/>
          </a:p>
        </p:txBody>
      </p:sp>
      <p:sp>
        <p:nvSpPr>
          <p:cNvPr id="19" name="Shape 17"/>
          <p:cNvSpPr/>
          <p:nvPr/>
        </p:nvSpPr>
        <p:spPr>
          <a:xfrm>
            <a:off x="274320" y="3639312"/>
            <a:ext cx="8595360" cy="1234440"/>
          </a:xfrm>
          <a:prstGeom prst="rect">
            <a:avLst/>
          </a:prstGeom>
          <a:solidFill>
            <a:srgbClr val="000000"/>
          </a:solidFill>
          <a:ln w="12700">
            <a:solidFill>
              <a:srgbClr val="E8C040"/>
            </a:solidFill>
            <a:prstDash val="solid"/>
          </a:ln>
        </p:spPr>
      </p:sp>
      <p:sp>
        <p:nvSpPr>
          <p:cNvPr id="20" name="Text 18"/>
          <p:cNvSpPr/>
          <p:nvPr/>
        </p:nvSpPr>
        <p:spPr>
          <a:xfrm>
            <a:off x="457200" y="3703320"/>
            <a:ext cx="2743200" cy="274320"/>
          </a:xfrm>
          <a:prstGeom prst="rect">
            <a:avLst/>
          </a:prstGeom>
          <a:noFill/>
          <a:ln/>
        </p:spPr>
        <p:txBody>
          <a:bodyPr wrap="square" rtlCol="0" anchor="ctr"/>
          <a:lstStyle/>
          <a:p>
            <a:pPr indent="0" marL="0">
              <a:buNone/>
            </a:pPr>
            <a:r>
              <a:rPr lang="en-US" sz="1000" b="1" dirty="0">
                <a:solidFill>
                  <a:srgbClr val="B8860B"/>
                </a:solidFill>
              </a:rPr>
              <a:t>🔍  Exemple concret</a:t>
            </a:r>
            <a:endParaRPr lang="en-US" sz="1000" dirty="0"/>
          </a:p>
        </p:txBody>
      </p:sp>
      <p:sp>
        <p:nvSpPr>
          <p:cNvPr id="21" name="Text 19"/>
          <p:cNvSpPr/>
          <p:nvPr/>
        </p:nvSpPr>
        <p:spPr>
          <a:xfrm>
            <a:off x="457200" y="4005072"/>
            <a:ext cx="8229600" cy="804672"/>
          </a:xfrm>
          <a:prstGeom prst="rect">
            <a:avLst/>
          </a:prstGeom>
          <a:noFill/>
          <a:ln/>
        </p:spPr>
        <p:txBody>
          <a:bodyPr wrap="square" rtlCol="0" anchor="ctr"/>
          <a:lstStyle/>
          <a:p>
            <a:pPr indent="0" marL="0">
              <a:buNone/>
            </a:pPr>
            <a:r>
              <a:rPr lang="en-US" sz="950" dirty="0">
                <a:solidFill>
                  <a:srgbClr val="4A6A48"/>
                </a:solidFill>
              </a:rPr>
              <a:t>Tu manges une belle salade de sardines + lentilles + huile d'olive — parfait sur le papier. Mais tu réponds à tes mails en mangeant, stressée par une réunion. Ton corps est en mode sympathique. Tes enzymes sont à 30%. Ton corps ne digère et n'absorbe qu'une partie des nutriments. Les résidus fermentent dans l'intestin. Et créent de l'inflammation. Le même repas, mangé tranquillement sans écran, aura un effet complètement différent.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EE"/>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STRESS ET NERF VAGUE</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NERF VAGUE</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5 / 10</a:t>
            </a:r>
            <a:endParaRPr lang="en-US" sz="800" dirty="0"/>
          </a:p>
        </p:txBody>
      </p:sp>
      <p:sp>
        <p:nvSpPr>
          <p:cNvPr id="6" name="Text 4"/>
          <p:cNvSpPr/>
          <p:nvPr/>
        </p:nvSpPr>
        <p:spPr>
          <a:xfrm>
            <a:off x="457200" y="164592"/>
            <a:ext cx="8229600" cy="475488"/>
          </a:xfrm>
          <a:prstGeom prst="rect">
            <a:avLst/>
          </a:prstGeom>
          <a:noFill/>
          <a:ln/>
        </p:spPr>
        <p:txBody>
          <a:bodyPr wrap="square" rtlCol="0" anchor="ctr"/>
          <a:lstStyle/>
          <a:p>
            <a:pPr algn="ctr" indent="0" marL="0">
              <a:buNone/>
            </a:pPr>
            <a:r>
              <a:rPr lang="en-US" sz="2400" b="1" dirty="0">
                <a:solidFill>
                  <a:srgbClr val="1A3A18"/>
                </a:solidFill>
                <a:latin typeface="Georgia" pitchFamily="34" charset="0"/>
                <a:ea typeface="Georgia" pitchFamily="34" charset="-122"/>
                <a:cs typeface="Georgia" pitchFamily="34" charset="-120"/>
              </a:rPr>
              <a:t>Stress chronique — ce qui se passe vraiment</a:t>
            </a:r>
            <a:endParaRPr lang="en-US" sz="2400" dirty="0"/>
          </a:p>
        </p:txBody>
      </p:sp>
      <p:sp>
        <p:nvSpPr>
          <p:cNvPr id="7" name="Shape 5"/>
          <p:cNvSpPr/>
          <p:nvPr/>
        </p:nvSpPr>
        <p:spPr>
          <a:xfrm>
            <a:off x="4297680" y="749808"/>
            <a:ext cx="548640" cy="36576"/>
          </a:xfrm>
          <a:prstGeom prst="rect">
            <a:avLst/>
          </a:prstGeom>
          <a:solidFill>
            <a:srgbClr val="B8860B"/>
          </a:solidFill>
          <a:ln w="12700">
            <a:solidFill>
              <a:srgbClr val="B8860B"/>
            </a:solidFill>
            <a:prstDash val="solid"/>
          </a:ln>
        </p:spPr>
      </p:sp>
      <p:sp>
        <p:nvSpPr>
          <p:cNvPr id="8" name="Text 6"/>
          <p:cNvSpPr/>
          <p:nvPr/>
        </p:nvSpPr>
        <p:spPr>
          <a:xfrm>
            <a:off x="274320" y="932688"/>
            <a:ext cx="8595360" cy="347472"/>
          </a:xfrm>
          <a:prstGeom prst="rect">
            <a:avLst/>
          </a:prstGeom>
          <a:noFill/>
          <a:ln/>
        </p:spPr>
        <p:txBody>
          <a:bodyPr wrap="square" rtlCol="0" anchor="ctr"/>
          <a:lstStyle/>
          <a:p>
            <a:pPr indent="0" marL="0">
              <a:buNone/>
            </a:pPr>
            <a:r>
              <a:rPr lang="en-US" sz="1100" i="1" dirty="0">
                <a:solidFill>
                  <a:srgbClr val="4A6A48"/>
                </a:solidFill>
              </a:rPr>
              <a:t>Quand on est chroniquement stressée — le nerf vague s'affaiblit progressivement. Les conséquences :</a:t>
            </a:r>
            <a:endParaRPr lang="en-US" sz="1100" dirty="0"/>
          </a:p>
        </p:txBody>
      </p:sp>
      <p:sp>
        <p:nvSpPr>
          <p:cNvPr id="9" name="Shape 7"/>
          <p:cNvSpPr/>
          <p:nvPr/>
        </p:nvSpPr>
        <p:spPr>
          <a:xfrm>
            <a:off x="274320" y="1417320"/>
            <a:ext cx="4160520" cy="1298448"/>
          </a:xfrm>
          <a:prstGeom prst="rect">
            <a:avLst/>
          </a:prstGeom>
          <a:solidFill>
            <a:srgbClr val="FFFFFF"/>
          </a:solidFill>
          <a:ln w="10160">
            <a:solidFill>
              <a:srgbClr val="9DC498"/>
            </a:solidFill>
            <a:prstDash val="solid"/>
          </a:ln>
        </p:spPr>
      </p:sp>
      <p:sp>
        <p:nvSpPr>
          <p:cNvPr id="10" name="Text 8"/>
          <p:cNvSpPr/>
          <p:nvPr/>
        </p:nvSpPr>
        <p:spPr>
          <a:xfrm>
            <a:off x="384048" y="1508760"/>
            <a:ext cx="3977640" cy="292608"/>
          </a:xfrm>
          <a:prstGeom prst="rect">
            <a:avLst/>
          </a:prstGeom>
          <a:noFill/>
          <a:ln/>
        </p:spPr>
        <p:txBody>
          <a:bodyPr wrap="square" rtlCol="0" anchor="ctr"/>
          <a:lstStyle/>
          <a:p>
            <a:pPr indent="0" marL="0">
              <a:buNone/>
            </a:pPr>
            <a:r>
              <a:rPr lang="en-US" sz="1100" b="1" dirty="0">
                <a:solidFill>
                  <a:srgbClr val="2D5A27"/>
                </a:solidFill>
              </a:rPr>
              <a:t>🔴 Moins d'acide chlorhydrique</a:t>
            </a:r>
            <a:endParaRPr lang="en-US" sz="1100" dirty="0"/>
          </a:p>
        </p:txBody>
      </p:sp>
      <p:sp>
        <p:nvSpPr>
          <p:cNvPr id="11" name="Text 9"/>
          <p:cNvSpPr/>
          <p:nvPr/>
        </p:nvSpPr>
        <p:spPr>
          <a:xfrm>
            <a:off x="384048" y="1892808"/>
            <a:ext cx="3959352" cy="713232"/>
          </a:xfrm>
          <a:prstGeom prst="rect">
            <a:avLst/>
          </a:prstGeom>
          <a:noFill/>
          <a:ln/>
        </p:spPr>
        <p:txBody>
          <a:bodyPr wrap="square" rtlCol="0" anchor="ctr"/>
          <a:lstStyle/>
          <a:p>
            <a:pPr indent="0" marL="0">
              <a:buNone/>
            </a:pPr>
            <a:r>
              <a:rPr lang="en-US" sz="950" dirty="0">
                <a:solidFill>
                  <a:srgbClr val="4A6A48"/>
                </a:solidFill>
              </a:rPr>
              <a:t>Les protéines sont mal digérées. La B12 et le fer non-héminique sont moins bien absorbés. Les pathogènes passent plus facilement.</a:t>
            </a:r>
            <a:endParaRPr lang="en-US" sz="950" dirty="0"/>
          </a:p>
        </p:txBody>
      </p:sp>
      <p:sp>
        <p:nvSpPr>
          <p:cNvPr id="12" name="Shape 10"/>
          <p:cNvSpPr/>
          <p:nvPr/>
        </p:nvSpPr>
        <p:spPr>
          <a:xfrm>
            <a:off x="4617720" y="1417320"/>
            <a:ext cx="4160520" cy="1298448"/>
          </a:xfrm>
          <a:prstGeom prst="rect">
            <a:avLst/>
          </a:prstGeom>
          <a:solidFill>
            <a:srgbClr val="FFFFFF"/>
          </a:solidFill>
          <a:ln w="10160">
            <a:solidFill>
              <a:srgbClr val="9DC498"/>
            </a:solidFill>
            <a:prstDash val="solid"/>
          </a:ln>
        </p:spPr>
      </p:sp>
      <p:sp>
        <p:nvSpPr>
          <p:cNvPr id="13" name="Text 11"/>
          <p:cNvSpPr/>
          <p:nvPr/>
        </p:nvSpPr>
        <p:spPr>
          <a:xfrm>
            <a:off x="4727448" y="1508760"/>
            <a:ext cx="3977640" cy="292608"/>
          </a:xfrm>
          <a:prstGeom prst="rect">
            <a:avLst/>
          </a:prstGeom>
          <a:noFill/>
          <a:ln/>
        </p:spPr>
        <p:txBody>
          <a:bodyPr wrap="square" rtlCol="0" anchor="ctr"/>
          <a:lstStyle/>
          <a:p>
            <a:pPr indent="0" marL="0">
              <a:buNone/>
            </a:pPr>
            <a:r>
              <a:rPr lang="en-US" sz="1100" b="1" dirty="0">
                <a:solidFill>
                  <a:srgbClr val="2D5A27"/>
                </a:solidFill>
              </a:rPr>
              <a:t>🔴 Moins d'enzymes digestives</a:t>
            </a:r>
            <a:endParaRPr lang="en-US" sz="1100" dirty="0"/>
          </a:p>
        </p:txBody>
      </p:sp>
      <p:sp>
        <p:nvSpPr>
          <p:cNvPr id="14" name="Text 12"/>
          <p:cNvSpPr/>
          <p:nvPr/>
        </p:nvSpPr>
        <p:spPr>
          <a:xfrm>
            <a:off x="4727448" y="1892808"/>
            <a:ext cx="3959352" cy="713232"/>
          </a:xfrm>
          <a:prstGeom prst="rect">
            <a:avLst/>
          </a:prstGeom>
          <a:noFill/>
          <a:ln/>
        </p:spPr>
        <p:txBody>
          <a:bodyPr wrap="square" rtlCol="0" anchor="ctr"/>
          <a:lstStyle/>
          <a:p>
            <a:pPr indent="0" marL="0">
              <a:buNone/>
            </a:pPr>
            <a:r>
              <a:rPr lang="en-US" sz="950" dirty="0">
                <a:solidFill>
                  <a:srgbClr val="4A6A48"/>
                </a:solidFill>
              </a:rPr>
              <a:t>Le pancréas sécrète moins d'amylase, lipase, protéase. Les nutriments arrivent en gros morceaux dans l'intestin et fermentent.</a:t>
            </a:r>
            <a:endParaRPr lang="en-US" sz="950" dirty="0"/>
          </a:p>
        </p:txBody>
      </p:sp>
      <p:sp>
        <p:nvSpPr>
          <p:cNvPr id="15" name="Shape 13"/>
          <p:cNvSpPr/>
          <p:nvPr/>
        </p:nvSpPr>
        <p:spPr>
          <a:xfrm>
            <a:off x="274320" y="2862072"/>
            <a:ext cx="4160520" cy="1298448"/>
          </a:xfrm>
          <a:prstGeom prst="rect">
            <a:avLst/>
          </a:prstGeom>
          <a:solidFill>
            <a:srgbClr val="FFFFFF"/>
          </a:solidFill>
          <a:ln w="10160">
            <a:solidFill>
              <a:srgbClr val="9DC498"/>
            </a:solidFill>
            <a:prstDash val="solid"/>
          </a:ln>
        </p:spPr>
      </p:sp>
      <p:sp>
        <p:nvSpPr>
          <p:cNvPr id="16" name="Text 14"/>
          <p:cNvSpPr/>
          <p:nvPr/>
        </p:nvSpPr>
        <p:spPr>
          <a:xfrm>
            <a:off x="384048" y="2953512"/>
            <a:ext cx="3977640" cy="292608"/>
          </a:xfrm>
          <a:prstGeom prst="rect">
            <a:avLst/>
          </a:prstGeom>
          <a:noFill/>
          <a:ln/>
        </p:spPr>
        <p:txBody>
          <a:bodyPr wrap="square" rtlCol="0" anchor="ctr"/>
          <a:lstStyle/>
          <a:p>
            <a:pPr indent="0" marL="0">
              <a:buNone/>
            </a:pPr>
            <a:r>
              <a:rPr lang="en-US" sz="1100" b="1" dirty="0">
                <a:solidFill>
                  <a:srgbClr val="2D5A27"/>
                </a:solidFill>
              </a:rPr>
              <a:t>🔴 Moins de bile</a:t>
            </a:r>
            <a:endParaRPr lang="en-US" sz="1100" dirty="0"/>
          </a:p>
        </p:txBody>
      </p:sp>
      <p:sp>
        <p:nvSpPr>
          <p:cNvPr id="17" name="Text 15"/>
          <p:cNvSpPr/>
          <p:nvPr/>
        </p:nvSpPr>
        <p:spPr>
          <a:xfrm>
            <a:off x="384048" y="3337560"/>
            <a:ext cx="3959352" cy="713232"/>
          </a:xfrm>
          <a:prstGeom prst="rect">
            <a:avLst/>
          </a:prstGeom>
          <a:noFill/>
          <a:ln/>
        </p:spPr>
        <p:txBody>
          <a:bodyPr wrap="square" rtlCol="0" anchor="ctr"/>
          <a:lstStyle/>
          <a:p>
            <a:pPr indent="0" marL="0">
              <a:buNone/>
            </a:pPr>
            <a:r>
              <a:rPr lang="en-US" sz="950" dirty="0">
                <a:solidFill>
                  <a:srgbClr val="4A6A48"/>
                </a:solidFill>
              </a:rPr>
              <a:t>Les graisses — y compris les précieux oméga-3 — sont moins bien digérées et absorbées. Vitamines liposolubles A, D, E, K mal assimilées.</a:t>
            </a:r>
            <a:endParaRPr lang="en-US" sz="950" dirty="0"/>
          </a:p>
        </p:txBody>
      </p:sp>
      <p:sp>
        <p:nvSpPr>
          <p:cNvPr id="18" name="Shape 16"/>
          <p:cNvSpPr/>
          <p:nvPr/>
        </p:nvSpPr>
        <p:spPr>
          <a:xfrm>
            <a:off x="4617720" y="2862072"/>
            <a:ext cx="4160520" cy="1298448"/>
          </a:xfrm>
          <a:prstGeom prst="rect">
            <a:avLst/>
          </a:prstGeom>
          <a:solidFill>
            <a:srgbClr val="FFFFFF"/>
          </a:solidFill>
          <a:ln w="10160">
            <a:solidFill>
              <a:srgbClr val="9DC498"/>
            </a:solidFill>
            <a:prstDash val="solid"/>
          </a:ln>
        </p:spPr>
      </p:sp>
      <p:sp>
        <p:nvSpPr>
          <p:cNvPr id="19" name="Text 17"/>
          <p:cNvSpPr/>
          <p:nvPr/>
        </p:nvSpPr>
        <p:spPr>
          <a:xfrm>
            <a:off x="4727448" y="2953512"/>
            <a:ext cx="3977640" cy="292608"/>
          </a:xfrm>
          <a:prstGeom prst="rect">
            <a:avLst/>
          </a:prstGeom>
          <a:noFill/>
          <a:ln/>
        </p:spPr>
        <p:txBody>
          <a:bodyPr wrap="square" rtlCol="0" anchor="ctr"/>
          <a:lstStyle/>
          <a:p>
            <a:pPr indent="0" marL="0">
              <a:buNone/>
            </a:pPr>
            <a:r>
              <a:rPr lang="en-US" sz="1100" b="1" dirty="0">
                <a:solidFill>
                  <a:srgbClr val="C04040"/>
                </a:solidFill>
              </a:rPr>
              <a:t>🔥 Action anti-inflammatoire réduite</a:t>
            </a:r>
            <a:endParaRPr lang="en-US" sz="1100" dirty="0"/>
          </a:p>
        </p:txBody>
      </p:sp>
      <p:sp>
        <p:nvSpPr>
          <p:cNvPr id="20" name="Text 18"/>
          <p:cNvSpPr/>
          <p:nvPr/>
        </p:nvSpPr>
        <p:spPr>
          <a:xfrm>
            <a:off x="4727448" y="3337560"/>
            <a:ext cx="3959352" cy="713232"/>
          </a:xfrm>
          <a:prstGeom prst="rect">
            <a:avLst/>
          </a:prstGeom>
          <a:noFill/>
          <a:ln/>
        </p:spPr>
        <p:txBody>
          <a:bodyPr wrap="square" rtlCol="0" anchor="ctr"/>
          <a:lstStyle/>
          <a:p>
            <a:pPr indent="0" marL="0">
              <a:buNone/>
            </a:pPr>
            <a:r>
              <a:rPr lang="en-US" sz="950" dirty="0">
                <a:solidFill>
                  <a:srgbClr val="4A6A48"/>
                </a:solidFill>
              </a:rPr>
              <a:t>Le nerf vague en bonne santé a une action anti-inflammatoire DIRECTE. Un nerf vague affaibli laisse l'inflammation chronique progresser.</a:t>
            </a:r>
            <a:endParaRPr lang="en-US" sz="950" dirty="0"/>
          </a:p>
        </p:txBody>
      </p:sp>
      <p:sp>
        <p:nvSpPr>
          <p:cNvPr id="21" name="Shape 19"/>
          <p:cNvSpPr/>
          <p:nvPr/>
        </p:nvSpPr>
        <p:spPr>
          <a:xfrm>
            <a:off x="274320" y="4370832"/>
            <a:ext cx="8595360" cy="502920"/>
          </a:xfrm>
          <a:prstGeom prst="rect">
            <a:avLst/>
          </a:prstGeom>
          <a:solidFill>
            <a:srgbClr val="D4EAD0"/>
          </a:solidFill>
          <a:ln w="12700">
            <a:solidFill>
              <a:srgbClr val="9DC498"/>
            </a:solidFill>
            <a:prstDash val="solid"/>
          </a:ln>
        </p:spPr>
      </p:sp>
      <p:sp>
        <p:nvSpPr>
          <p:cNvPr id="22" name="Text 20"/>
          <p:cNvSpPr/>
          <p:nvPr/>
        </p:nvSpPr>
        <p:spPr>
          <a:xfrm>
            <a:off x="457200" y="4462272"/>
            <a:ext cx="8229600" cy="347472"/>
          </a:xfrm>
          <a:prstGeom prst="rect">
            <a:avLst/>
          </a:prstGeom>
          <a:noFill/>
          <a:ln/>
        </p:spPr>
        <p:txBody>
          <a:bodyPr wrap="square" rtlCol="0" anchor="ctr"/>
          <a:lstStyle/>
          <a:p>
            <a:pPr algn="ctr" indent="0" marL="0">
              <a:buNone/>
            </a:pPr>
            <a:r>
              <a:rPr lang="en-US" sz="950" dirty="0">
                <a:solidFill>
                  <a:srgbClr val="2D5A27"/>
                </a:solidFill>
              </a:rPr>
              <a:t>🌿  Comment stimuler le nerf vague : Respiration profonde · Cohérence cardiaque · Mâcher lentement · Chanter/fredonner · Eau froide · Se promener dans la nature · Manger sans écran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DF8"/>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ÉCRANS ET SATIÉTÉ</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CONSCIENCE</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6 / 10</a:t>
            </a:r>
            <a:endParaRPr lang="en-US" sz="800" dirty="0"/>
          </a:p>
        </p:txBody>
      </p:sp>
      <p:sp>
        <p:nvSpPr>
          <p:cNvPr id="6" name="Text 4"/>
          <p:cNvSpPr/>
          <p:nvPr/>
        </p:nvSpPr>
        <p:spPr>
          <a:xfrm>
            <a:off x="457200" y="164592"/>
            <a:ext cx="8229600" cy="475488"/>
          </a:xfrm>
          <a:prstGeom prst="rect">
            <a:avLst/>
          </a:prstGeom>
          <a:noFill/>
          <a:ln/>
        </p:spPr>
        <p:txBody>
          <a:bodyPr wrap="square" rtlCol="0" anchor="ctr"/>
          <a:lstStyle/>
          <a:p>
            <a:pPr algn="ctr" indent="0" marL="0">
              <a:buNone/>
            </a:pPr>
            <a:r>
              <a:rPr lang="en-US" sz="2400" b="1" dirty="0">
                <a:solidFill>
                  <a:srgbClr val="1A3A18"/>
                </a:solidFill>
                <a:latin typeface="Georgia" pitchFamily="34" charset="0"/>
                <a:ea typeface="Georgia" pitchFamily="34" charset="-122"/>
                <a:cs typeface="Georgia" pitchFamily="34" charset="-120"/>
              </a:rPr>
              <a:t>Manger devant les écrans — les vrais effets</a:t>
            </a:r>
            <a:endParaRPr lang="en-US" sz="2400" dirty="0"/>
          </a:p>
        </p:txBody>
      </p:sp>
      <p:sp>
        <p:nvSpPr>
          <p:cNvPr id="7" name="Shape 5"/>
          <p:cNvSpPr/>
          <p:nvPr/>
        </p:nvSpPr>
        <p:spPr>
          <a:xfrm>
            <a:off x="4297680" y="749808"/>
            <a:ext cx="548640" cy="36576"/>
          </a:xfrm>
          <a:prstGeom prst="rect">
            <a:avLst/>
          </a:prstGeom>
          <a:solidFill>
            <a:srgbClr val="B8860B"/>
          </a:solidFill>
          <a:ln w="12700">
            <a:solidFill>
              <a:srgbClr val="B8860B"/>
            </a:solidFill>
            <a:prstDash val="solid"/>
          </a:ln>
        </p:spPr>
      </p:sp>
      <p:sp>
        <p:nvSpPr>
          <p:cNvPr id="8" name="Shape 6"/>
          <p:cNvSpPr/>
          <p:nvPr/>
        </p:nvSpPr>
        <p:spPr>
          <a:xfrm>
            <a:off x="274320" y="932688"/>
            <a:ext cx="8595360" cy="502920"/>
          </a:xfrm>
          <a:prstGeom prst="rect">
            <a:avLst/>
          </a:prstGeom>
          <a:solidFill>
            <a:srgbClr val="2D5A27"/>
          </a:solidFill>
          <a:ln w="10160">
            <a:solidFill>
              <a:srgbClr val="2D5A27"/>
            </a:solidFill>
            <a:prstDash val="solid"/>
          </a:ln>
        </p:spPr>
      </p:sp>
      <p:sp>
        <p:nvSpPr>
          <p:cNvPr id="9" name="Text 7"/>
          <p:cNvSpPr/>
          <p:nvPr/>
        </p:nvSpPr>
        <p:spPr>
          <a:xfrm>
            <a:off x="457200" y="1005840"/>
            <a:ext cx="8229600" cy="347472"/>
          </a:xfrm>
          <a:prstGeom prst="rect">
            <a:avLst/>
          </a:prstGeom>
          <a:noFill/>
          <a:ln/>
        </p:spPr>
        <p:txBody>
          <a:bodyPr wrap="square" rtlCol="0" anchor="ctr"/>
          <a:lstStyle/>
          <a:p>
            <a:pPr algn="ctr" indent="0" marL="0">
              <a:buNone/>
            </a:pPr>
            <a:r>
              <a:rPr lang="en-US" sz="1100" i="1" dirty="0">
                <a:solidFill>
                  <a:srgbClr val="E8C040"/>
                </a:solidFill>
              </a:rPr>
              <a:t>Les écrans activent le système sympathique — mode alerte, mode stress. Exactement l'opposé de ce dont tu as besoin pour bien digérer.</a:t>
            </a:r>
            <a:endParaRPr lang="en-US" sz="1100" dirty="0"/>
          </a:p>
        </p:txBody>
      </p:sp>
      <p:sp>
        <p:nvSpPr>
          <p:cNvPr id="10" name="Shape 8"/>
          <p:cNvSpPr/>
          <p:nvPr/>
        </p:nvSpPr>
        <p:spPr>
          <a:xfrm>
            <a:off x="274320" y="1572768"/>
            <a:ext cx="4160520" cy="1417320"/>
          </a:xfrm>
          <a:prstGeom prst="rect">
            <a:avLst/>
          </a:prstGeom>
          <a:solidFill>
            <a:srgbClr val="FFFFFF"/>
          </a:solidFill>
          <a:ln w="10160">
            <a:solidFill>
              <a:srgbClr val="9DC498"/>
            </a:solidFill>
            <a:prstDash val="solid"/>
          </a:ln>
        </p:spPr>
      </p:sp>
      <p:sp>
        <p:nvSpPr>
          <p:cNvPr id="11" name="Shape 9"/>
          <p:cNvSpPr/>
          <p:nvPr/>
        </p:nvSpPr>
        <p:spPr>
          <a:xfrm>
            <a:off x="274320" y="1572768"/>
            <a:ext cx="4160520" cy="384048"/>
          </a:xfrm>
          <a:prstGeom prst="rect">
            <a:avLst/>
          </a:prstGeom>
          <a:solidFill>
            <a:srgbClr val="C04040"/>
          </a:solidFill>
          <a:ln w="10160">
            <a:solidFill>
              <a:srgbClr val="C04040"/>
            </a:solidFill>
            <a:prstDash val="solid"/>
          </a:ln>
        </p:spPr>
      </p:sp>
      <p:sp>
        <p:nvSpPr>
          <p:cNvPr id="12" name="Text 10"/>
          <p:cNvSpPr/>
          <p:nvPr/>
        </p:nvSpPr>
        <p:spPr>
          <a:xfrm>
            <a:off x="365760" y="1627632"/>
            <a:ext cx="3977640" cy="292608"/>
          </a:xfrm>
          <a:prstGeom prst="rect">
            <a:avLst/>
          </a:prstGeom>
          <a:noFill/>
          <a:ln/>
        </p:spPr>
        <p:txBody>
          <a:bodyPr wrap="square" rtlCol="0" anchor="ctr"/>
          <a:lstStyle/>
          <a:p>
            <a:pPr indent="0" marL="0">
              <a:buNone/>
            </a:pPr>
            <a:r>
              <a:rPr lang="en-US" sz="1100" b="1" dirty="0">
                <a:solidFill>
                  <a:srgbClr val="FFFFFF"/>
                </a:solidFill>
              </a:rPr>
              <a:t>📱 Système nerveux en mode alerte</a:t>
            </a:r>
            <a:endParaRPr lang="en-US" sz="1100" dirty="0"/>
          </a:p>
        </p:txBody>
      </p:sp>
      <p:sp>
        <p:nvSpPr>
          <p:cNvPr id="13" name="Text 11"/>
          <p:cNvSpPr/>
          <p:nvPr/>
        </p:nvSpPr>
        <p:spPr>
          <a:xfrm>
            <a:off x="384048" y="2075688"/>
            <a:ext cx="3959352" cy="804672"/>
          </a:xfrm>
          <a:prstGeom prst="rect">
            <a:avLst/>
          </a:prstGeom>
          <a:noFill/>
          <a:ln/>
        </p:spPr>
        <p:txBody>
          <a:bodyPr wrap="square" rtlCol="0" anchor="ctr"/>
          <a:lstStyle/>
          <a:p>
            <a:pPr indent="0" marL="0">
              <a:buNone/>
            </a:pPr>
            <a:r>
              <a:rPr lang="en-US" sz="1000" dirty="0">
                <a:solidFill>
                  <a:srgbClr val="4A6A48"/>
                </a:solidFill>
              </a:rPr>
              <a:t>Notifications, infos, stimulations visuelles constantes → système sympathique activé → digestion à moitié endormie → enzymes réduites.</a:t>
            </a:r>
            <a:endParaRPr lang="en-US" sz="1000" dirty="0"/>
          </a:p>
        </p:txBody>
      </p:sp>
      <p:sp>
        <p:nvSpPr>
          <p:cNvPr id="14" name="Shape 12"/>
          <p:cNvSpPr/>
          <p:nvPr/>
        </p:nvSpPr>
        <p:spPr>
          <a:xfrm>
            <a:off x="4617720" y="1572768"/>
            <a:ext cx="4160520" cy="1417320"/>
          </a:xfrm>
          <a:prstGeom prst="rect">
            <a:avLst/>
          </a:prstGeom>
          <a:solidFill>
            <a:srgbClr val="FFFFFF"/>
          </a:solidFill>
          <a:ln w="10160">
            <a:solidFill>
              <a:srgbClr val="9DC498"/>
            </a:solidFill>
            <a:prstDash val="solid"/>
          </a:ln>
        </p:spPr>
      </p:sp>
      <p:sp>
        <p:nvSpPr>
          <p:cNvPr id="15" name="Shape 13"/>
          <p:cNvSpPr/>
          <p:nvPr/>
        </p:nvSpPr>
        <p:spPr>
          <a:xfrm>
            <a:off x="4617720" y="1572768"/>
            <a:ext cx="4160520" cy="384048"/>
          </a:xfrm>
          <a:prstGeom prst="rect">
            <a:avLst/>
          </a:prstGeom>
          <a:solidFill>
            <a:srgbClr val="C04040"/>
          </a:solidFill>
          <a:ln w="10160">
            <a:solidFill>
              <a:srgbClr val="C04040"/>
            </a:solidFill>
            <a:prstDash val="solid"/>
          </a:ln>
        </p:spPr>
      </p:sp>
      <p:sp>
        <p:nvSpPr>
          <p:cNvPr id="16" name="Text 14"/>
          <p:cNvSpPr/>
          <p:nvPr/>
        </p:nvSpPr>
        <p:spPr>
          <a:xfrm>
            <a:off x="4709160" y="1627632"/>
            <a:ext cx="3977640" cy="292608"/>
          </a:xfrm>
          <a:prstGeom prst="rect">
            <a:avLst/>
          </a:prstGeom>
          <a:noFill/>
          <a:ln/>
        </p:spPr>
        <p:txBody>
          <a:bodyPr wrap="square" rtlCol="0" anchor="ctr"/>
          <a:lstStyle/>
          <a:p>
            <a:pPr indent="0" marL="0">
              <a:buNone/>
            </a:pPr>
            <a:r>
              <a:rPr lang="en-US" sz="1100" b="1" dirty="0">
                <a:solidFill>
                  <a:srgbClr val="FFFFFF"/>
                </a:solidFill>
              </a:rPr>
              <a:t>🧠 Le cerveau n'enregistre pas le repas</a:t>
            </a:r>
            <a:endParaRPr lang="en-US" sz="1100" dirty="0"/>
          </a:p>
        </p:txBody>
      </p:sp>
      <p:sp>
        <p:nvSpPr>
          <p:cNvPr id="17" name="Text 15"/>
          <p:cNvSpPr/>
          <p:nvPr/>
        </p:nvSpPr>
        <p:spPr>
          <a:xfrm>
            <a:off x="4727448" y="2075688"/>
            <a:ext cx="3959352" cy="804672"/>
          </a:xfrm>
          <a:prstGeom prst="rect">
            <a:avLst/>
          </a:prstGeom>
          <a:noFill/>
          <a:ln/>
        </p:spPr>
        <p:txBody>
          <a:bodyPr wrap="square" rtlCol="0" anchor="ctr"/>
          <a:lstStyle/>
          <a:p>
            <a:pPr indent="0" marL="0">
              <a:buNone/>
            </a:pPr>
            <a:r>
              <a:rPr lang="en-US" sz="1000" dirty="0">
                <a:solidFill>
                  <a:srgbClr val="4A6A48"/>
                </a:solidFill>
              </a:rPr>
              <a:t>Quand l'attention est ailleurs, le cerveau ne 'vit' pas l'expérience du repas. Résultat : moins de satiété, sensation de ne pas avoir vraiment mangé.</a:t>
            </a:r>
            <a:endParaRPr lang="en-US" sz="1000" dirty="0"/>
          </a:p>
        </p:txBody>
      </p:sp>
      <p:sp>
        <p:nvSpPr>
          <p:cNvPr id="18" name="Shape 16"/>
          <p:cNvSpPr/>
          <p:nvPr/>
        </p:nvSpPr>
        <p:spPr>
          <a:xfrm>
            <a:off x="274320" y="3108960"/>
            <a:ext cx="4160520" cy="1417320"/>
          </a:xfrm>
          <a:prstGeom prst="rect">
            <a:avLst/>
          </a:prstGeom>
          <a:solidFill>
            <a:srgbClr val="FFFFFF"/>
          </a:solidFill>
          <a:ln w="10160">
            <a:solidFill>
              <a:srgbClr val="9DC498"/>
            </a:solidFill>
            <a:prstDash val="solid"/>
          </a:ln>
        </p:spPr>
      </p:sp>
      <p:sp>
        <p:nvSpPr>
          <p:cNvPr id="19" name="Shape 17"/>
          <p:cNvSpPr/>
          <p:nvPr/>
        </p:nvSpPr>
        <p:spPr>
          <a:xfrm>
            <a:off x="274320" y="3108960"/>
            <a:ext cx="4160520" cy="384048"/>
          </a:xfrm>
          <a:prstGeom prst="rect">
            <a:avLst/>
          </a:prstGeom>
          <a:solidFill>
            <a:srgbClr val="4A8A42"/>
          </a:solidFill>
          <a:ln w="10160">
            <a:solidFill>
              <a:srgbClr val="4A8A42"/>
            </a:solidFill>
            <a:prstDash val="solid"/>
          </a:ln>
        </p:spPr>
      </p:sp>
      <p:sp>
        <p:nvSpPr>
          <p:cNvPr id="20" name="Text 18"/>
          <p:cNvSpPr/>
          <p:nvPr/>
        </p:nvSpPr>
        <p:spPr>
          <a:xfrm>
            <a:off x="365760" y="3163824"/>
            <a:ext cx="3977640" cy="292608"/>
          </a:xfrm>
          <a:prstGeom prst="rect">
            <a:avLst/>
          </a:prstGeom>
          <a:noFill/>
          <a:ln/>
        </p:spPr>
        <p:txBody>
          <a:bodyPr wrap="square" rtlCol="0" anchor="ctr"/>
          <a:lstStyle/>
          <a:p>
            <a:pPr indent="0" marL="0">
              <a:buNone/>
            </a:pPr>
            <a:r>
              <a:rPr lang="en-US" sz="1100" b="1" dirty="0">
                <a:solidFill>
                  <a:srgbClr val="FFFFFF"/>
                </a:solidFill>
              </a:rPr>
              <a:t>🍽️ On mange 25-50% de plus</a:t>
            </a:r>
            <a:endParaRPr lang="en-US" sz="1100" dirty="0"/>
          </a:p>
        </p:txBody>
      </p:sp>
      <p:sp>
        <p:nvSpPr>
          <p:cNvPr id="21" name="Text 19"/>
          <p:cNvSpPr/>
          <p:nvPr/>
        </p:nvSpPr>
        <p:spPr>
          <a:xfrm>
            <a:off x="384048" y="3611880"/>
            <a:ext cx="3959352" cy="804672"/>
          </a:xfrm>
          <a:prstGeom prst="rect">
            <a:avLst/>
          </a:prstGeom>
          <a:noFill/>
          <a:ln/>
        </p:spPr>
        <p:txBody>
          <a:bodyPr wrap="square" rtlCol="0" anchor="ctr"/>
          <a:lstStyle/>
          <a:p>
            <a:pPr indent="0" marL="0">
              <a:buNone/>
            </a:pPr>
            <a:r>
              <a:rPr lang="en-US" sz="1000" dirty="0">
                <a:solidFill>
                  <a:srgbClr val="4A6A48"/>
                </a:solidFill>
              </a:rPr>
              <a:t>Des études montrent que manger devant un écran augmente la consommation alimentaire de 25 à 50% — parce que les signaux de satiété ne sont pas bien reçus.</a:t>
            </a:r>
            <a:endParaRPr lang="en-US" sz="1000" dirty="0"/>
          </a:p>
        </p:txBody>
      </p:sp>
      <p:sp>
        <p:nvSpPr>
          <p:cNvPr id="22" name="Shape 20"/>
          <p:cNvSpPr/>
          <p:nvPr/>
        </p:nvSpPr>
        <p:spPr>
          <a:xfrm>
            <a:off x="4617720" y="3108960"/>
            <a:ext cx="4160520" cy="1417320"/>
          </a:xfrm>
          <a:prstGeom prst="rect">
            <a:avLst/>
          </a:prstGeom>
          <a:solidFill>
            <a:srgbClr val="FFFFFF"/>
          </a:solidFill>
          <a:ln w="10160">
            <a:solidFill>
              <a:srgbClr val="9DC498"/>
            </a:solidFill>
            <a:prstDash val="solid"/>
          </a:ln>
        </p:spPr>
      </p:sp>
      <p:sp>
        <p:nvSpPr>
          <p:cNvPr id="23" name="Shape 21"/>
          <p:cNvSpPr/>
          <p:nvPr/>
        </p:nvSpPr>
        <p:spPr>
          <a:xfrm>
            <a:off x="4617720" y="3108960"/>
            <a:ext cx="4160520" cy="384048"/>
          </a:xfrm>
          <a:prstGeom prst="rect">
            <a:avLst/>
          </a:prstGeom>
          <a:solidFill>
            <a:srgbClr val="4A8A42"/>
          </a:solidFill>
          <a:ln w="10160">
            <a:solidFill>
              <a:srgbClr val="4A8A42"/>
            </a:solidFill>
            <a:prstDash val="solid"/>
          </a:ln>
        </p:spPr>
      </p:sp>
      <p:sp>
        <p:nvSpPr>
          <p:cNvPr id="24" name="Text 22"/>
          <p:cNvSpPr/>
          <p:nvPr/>
        </p:nvSpPr>
        <p:spPr>
          <a:xfrm>
            <a:off x="4709160" y="3163824"/>
            <a:ext cx="3977640" cy="292608"/>
          </a:xfrm>
          <a:prstGeom prst="rect">
            <a:avLst/>
          </a:prstGeom>
          <a:noFill/>
          <a:ln/>
        </p:spPr>
        <p:txBody>
          <a:bodyPr wrap="square" rtlCol="0" anchor="ctr"/>
          <a:lstStyle/>
          <a:p>
            <a:pPr indent="0" marL="0">
              <a:buNone/>
            </a:pPr>
            <a:r>
              <a:rPr lang="en-US" sz="1100" b="1" dirty="0">
                <a:solidFill>
                  <a:srgbClr val="FFFFFF"/>
                </a:solidFill>
              </a:rPr>
              <a:t>🔌 Déconnexion du corps</a:t>
            </a:r>
            <a:endParaRPr lang="en-US" sz="1100" dirty="0"/>
          </a:p>
        </p:txBody>
      </p:sp>
      <p:sp>
        <p:nvSpPr>
          <p:cNvPr id="25" name="Text 23"/>
          <p:cNvSpPr/>
          <p:nvPr/>
        </p:nvSpPr>
        <p:spPr>
          <a:xfrm>
            <a:off x="4727448" y="3611880"/>
            <a:ext cx="3959352" cy="804672"/>
          </a:xfrm>
          <a:prstGeom prst="rect">
            <a:avLst/>
          </a:prstGeom>
          <a:noFill/>
          <a:ln/>
        </p:spPr>
        <p:txBody>
          <a:bodyPr wrap="square" rtlCol="0" anchor="ctr"/>
          <a:lstStyle/>
          <a:p>
            <a:pPr indent="0" marL="0">
              <a:buNone/>
            </a:pPr>
            <a:r>
              <a:rPr lang="en-US" sz="1000" dirty="0">
                <a:solidFill>
                  <a:srgbClr val="4A6A48"/>
                </a:solidFill>
              </a:rPr>
              <a:t>On ne ressent plus vraiment la faim ni la satiété. On mange mécaniquement. Ce lien avec son corps — c'est exactement ce qu'on cherche à reconstruire.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EE"/>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FAIM ET SATIÉTÉ</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HORMONES</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7 / 10</a:t>
            </a:r>
            <a:endParaRPr lang="en-US" sz="800" dirty="0"/>
          </a:p>
        </p:txBody>
      </p:sp>
      <p:sp>
        <p:nvSpPr>
          <p:cNvPr id="6" name="Text 4"/>
          <p:cNvSpPr/>
          <p:nvPr/>
        </p:nvSpPr>
        <p:spPr>
          <a:xfrm>
            <a:off x="457200" y="164592"/>
            <a:ext cx="8229600" cy="475488"/>
          </a:xfrm>
          <a:prstGeom prst="rect">
            <a:avLst/>
          </a:prstGeom>
          <a:noFill/>
          <a:ln/>
        </p:spPr>
        <p:txBody>
          <a:bodyPr wrap="square" rtlCol="0" anchor="ctr"/>
          <a:lstStyle/>
          <a:p>
            <a:pPr algn="ctr" indent="0" marL="0">
              <a:buNone/>
            </a:pPr>
            <a:r>
              <a:rPr lang="en-US" sz="2400" b="1" dirty="0">
                <a:solidFill>
                  <a:srgbClr val="1A3A18"/>
                </a:solidFill>
                <a:latin typeface="Georgia" pitchFamily="34" charset="0"/>
                <a:ea typeface="Georgia" pitchFamily="34" charset="-122"/>
                <a:cs typeface="Georgia" pitchFamily="34" charset="-120"/>
              </a:rPr>
              <a:t>Reconnaître ses vrais signaux de faim et satiété</a:t>
            </a:r>
            <a:endParaRPr lang="en-US" sz="2400" dirty="0"/>
          </a:p>
        </p:txBody>
      </p:sp>
      <p:sp>
        <p:nvSpPr>
          <p:cNvPr id="7" name="Shape 5"/>
          <p:cNvSpPr/>
          <p:nvPr/>
        </p:nvSpPr>
        <p:spPr>
          <a:xfrm>
            <a:off x="4297680" y="749808"/>
            <a:ext cx="548640" cy="36576"/>
          </a:xfrm>
          <a:prstGeom prst="rect">
            <a:avLst/>
          </a:prstGeom>
          <a:solidFill>
            <a:srgbClr val="B8860B"/>
          </a:solidFill>
          <a:ln w="12700">
            <a:solidFill>
              <a:srgbClr val="B8860B"/>
            </a:solidFill>
            <a:prstDash val="solid"/>
          </a:ln>
        </p:spPr>
      </p:sp>
      <p:sp>
        <p:nvSpPr>
          <p:cNvPr id="8" name="Shape 6"/>
          <p:cNvSpPr/>
          <p:nvPr/>
        </p:nvSpPr>
        <p:spPr>
          <a:xfrm>
            <a:off x="274320" y="960120"/>
            <a:ext cx="4114800" cy="2331720"/>
          </a:xfrm>
          <a:prstGeom prst="rect">
            <a:avLst/>
          </a:prstGeom>
          <a:solidFill>
            <a:srgbClr val="FFFFFF"/>
          </a:solidFill>
          <a:ln w="10160">
            <a:solidFill>
              <a:srgbClr val="9DC498"/>
            </a:solidFill>
            <a:prstDash val="solid"/>
          </a:ln>
        </p:spPr>
      </p:sp>
      <p:sp>
        <p:nvSpPr>
          <p:cNvPr id="9" name="Shape 7"/>
          <p:cNvSpPr/>
          <p:nvPr/>
        </p:nvSpPr>
        <p:spPr>
          <a:xfrm>
            <a:off x="274320" y="960120"/>
            <a:ext cx="4114800" cy="411480"/>
          </a:xfrm>
          <a:prstGeom prst="rect">
            <a:avLst/>
          </a:prstGeom>
          <a:solidFill>
            <a:srgbClr val="C07030"/>
          </a:solidFill>
          <a:ln w="10160">
            <a:solidFill>
              <a:srgbClr val="C07030"/>
            </a:solidFill>
            <a:prstDash val="solid"/>
          </a:ln>
        </p:spPr>
      </p:sp>
      <p:sp>
        <p:nvSpPr>
          <p:cNvPr id="10" name="Text 8"/>
          <p:cNvSpPr/>
          <p:nvPr/>
        </p:nvSpPr>
        <p:spPr>
          <a:xfrm>
            <a:off x="347472" y="1005840"/>
            <a:ext cx="3977640" cy="320040"/>
          </a:xfrm>
          <a:prstGeom prst="rect">
            <a:avLst/>
          </a:prstGeom>
          <a:noFill/>
          <a:ln/>
        </p:spPr>
        <p:txBody>
          <a:bodyPr wrap="square" rtlCol="0" anchor="ctr"/>
          <a:lstStyle/>
          <a:p>
            <a:pPr indent="0" marL="0">
              <a:buNone/>
            </a:pPr>
            <a:r>
              <a:rPr lang="en-US" sz="1100" b="1" dirty="0">
                <a:solidFill>
                  <a:srgbClr val="FFFFFF"/>
                </a:solidFill>
              </a:rPr>
              <a:t>🍽️  Ghréline — l'hormone de la FAIM</a:t>
            </a:r>
            <a:endParaRPr lang="en-US" sz="1100" dirty="0"/>
          </a:p>
        </p:txBody>
      </p:sp>
      <p:sp>
        <p:nvSpPr>
          <p:cNvPr id="11" name="Text 9"/>
          <p:cNvSpPr/>
          <p:nvPr/>
        </p:nvSpPr>
        <p:spPr>
          <a:xfrm>
            <a:off x="365760" y="1463040"/>
            <a:ext cx="3931920" cy="1719072"/>
          </a:xfrm>
          <a:prstGeom prst="rect">
            <a:avLst/>
          </a:prstGeom>
          <a:noFill/>
          <a:ln/>
        </p:spPr>
        <p:txBody>
          <a:bodyPr wrap="square" rtlCol="0" anchor="ctr"/>
          <a:lstStyle/>
          <a:p>
            <a:pPr indent="0" marL="0">
              <a:buNone/>
            </a:pPr>
            <a:r>
              <a:rPr lang="en-US" sz="1000" dirty="0">
                <a:solidFill>
                  <a:srgbClr val="4A6A48"/>
                </a:solidFill>
              </a:rPr>
              <a:t>Monte quand l'estomac est vide.</a:t>
            </a:r>
            <a:endParaRPr lang="en-US" sz="1000" dirty="0"/>
          </a:p>
          <a:p>
            <a:pPr indent="0" marL="0">
              <a:buNone/>
            </a:pPr>
            <a:r>
              <a:rPr lang="en-US" sz="1000" dirty="0">
                <a:solidFill>
                  <a:srgbClr val="4A6A48"/>
                </a:solidFill>
              </a:rPr>
              <a:t>Envoie le signal 'j'ai faim' au cerveau.</a:t>
            </a:r>
            <a:endParaRPr lang="en-US" sz="1000" dirty="0"/>
          </a:p>
          <a:p>
            <a:pPr indent="0" marL="0">
              <a:buNone/>
            </a:pPr>
            <a:endParaRPr lang="en-US" sz="1000" dirty="0"/>
          </a:p>
          <a:p>
            <a:pPr indent="0" marL="0">
              <a:buNone/>
            </a:pPr>
            <a:r>
              <a:rPr lang="en-US" sz="1000" dirty="0">
                <a:solidFill>
                  <a:srgbClr val="4A6A48"/>
                </a:solidFill>
              </a:rPr>
              <a:t>Le stress chronique augmente la ghréline.</a:t>
            </a:r>
            <a:endParaRPr lang="en-US" sz="1000" dirty="0"/>
          </a:p>
          <a:p>
            <a:pPr indent="0" marL="0">
              <a:buNone/>
            </a:pPr>
            <a:r>
              <a:rPr lang="en-US" sz="1000" dirty="0">
                <a:solidFill>
                  <a:srgbClr val="4A6A48"/>
                </a:solidFill>
              </a:rPr>
              <a:t>→ On a plus faim qu'on ne devrait.</a:t>
            </a:r>
            <a:endParaRPr lang="en-US" sz="1000" dirty="0"/>
          </a:p>
          <a:p>
            <a:pPr indent="0" marL="0">
              <a:buNone/>
            </a:pPr>
            <a:endParaRPr lang="en-US" sz="1000" dirty="0"/>
          </a:p>
          <a:p>
            <a:pPr indent="0" marL="0">
              <a:buNone/>
            </a:pPr>
            <a:r>
              <a:rPr lang="en-US" sz="1000" dirty="0">
                <a:solidFill>
                  <a:srgbClr val="4A6A48"/>
                </a:solidFill>
              </a:rPr>
              <a:t>Le manque de sommeil aussi augmente la ghréline.</a:t>
            </a:r>
            <a:endParaRPr lang="en-US" sz="1000" dirty="0"/>
          </a:p>
          <a:p>
            <a:pPr indent="0" marL="0">
              <a:buNone/>
            </a:pPr>
            <a:r>
              <a:rPr lang="en-US" sz="1000" dirty="0">
                <a:solidFill>
                  <a:srgbClr val="4A6A48"/>
                </a:solidFill>
              </a:rPr>
              <a:t>→ Envies de sucre et de gras le lendemain.</a:t>
            </a:r>
            <a:endParaRPr lang="en-US" sz="1000" dirty="0"/>
          </a:p>
        </p:txBody>
      </p:sp>
      <p:sp>
        <p:nvSpPr>
          <p:cNvPr id="12" name="Shape 10"/>
          <p:cNvSpPr/>
          <p:nvPr/>
        </p:nvSpPr>
        <p:spPr>
          <a:xfrm>
            <a:off x="4754880" y="960120"/>
            <a:ext cx="4114800" cy="2331720"/>
          </a:xfrm>
          <a:prstGeom prst="rect">
            <a:avLst/>
          </a:prstGeom>
          <a:solidFill>
            <a:srgbClr val="FFFFFF"/>
          </a:solidFill>
          <a:ln w="10160">
            <a:solidFill>
              <a:srgbClr val="9DC498"/>
            </a:solidFill>
            <a:prstDash val="solid"/>
          </a:ln>
        </p:spPr>
      </p:sp>
      <p:sp>
        <p:nvSpPr>
          <p:cNvPr id="13" name="Shape 11"/>
          <p:cNvSpPr/>
          <p:nvPr/>
        </p:nvSpPr>
        <p:spPr>
          <a:xfrm>
            <a:off x="4754880" y="960120"/>
            <a:ext cx="4114800" cy="411480"/>
          </a:xfrm>
          <a:prstGeom prst="rect">
            <a:avLst/>
          </a:prstGeom>
          <a:solidFill>
            <a:srgbClr val="4A8A42"/>
          </a:solidFill>
          <a:ln w="10160">
            <a:solidFill>
              <a:srgbClr val="4A8A42"/>
            </a:solidFill>
            <a:prstDash val="solid"/>
          </a:ln>
        </p:spPr>
      </p:sp>
      <p:sp>
        <p:nvSpPr>
          <p:cNvPr id="14" name="Text 12"/>
          <p:cNvSpPr/>
          <p:nvPr/>
        </p:nvSpPr>
        <p:spPr>
          <a:xfrm>
            <a:off x="4828032" y="1005840"/>
            <a:ext cx="3977640" cy="320040"/>
          </a:xfrm>
          <a:prstGeom prst="rect">
            <a:avLst/>
          </a:prstGeom>
          <a:noFill/>
          <a:ln/>
        </p:spPr>
        <p:txBody>
          <a:bodyPr wrap="square" rtlCol="0" anchor="ctr"/>
          <a:lstStyle/>
          <a:p>
            <a:pPr indent="0" marL="0">
              <a:buNone/>
            </a:pPr>
            <a:r>
              <a:rPr lang="en-US" sz="1100" b="1" dirty="0">
                <a:solidFill>
                  <a:srgbClr val="FFFFFF"/>
                </a:solidFill>
              </a:rPr>
              <a:t>✅  Leptine — l'hormone de la SATIÉTÉ</a:t>
            </a:r>
            <a:endParaRPr lang="en-US" sz="1100" dirty="0"/>
          </a:p>
        </p:txBody>
      </p:sp>
      <p:sp>
        <p:nvSpPr>
          <p:cNvPr id="15" name="Text 13"/>
          <p:cNvSpPr/>
          <p:nvPr/>
        </p:nvSpPr>
        <p:spPr>
          <a:xfrm>
            <a:off x="4846320" y="1463040"/>
            <a:ext cx="3931920" cy="1719072"/>
          </a:xfrm>
          <a:prstGeom prst="rect">
            <a:avLst/>
          </a:prstGeom>
          <a:noFill/>
          <a:ln/>
        </p:spPr>
        <p:txBody>
          <a:bodyPr wrap="square" rtlCol="0" anchor="ctr"/>
          <a:lstStyle/>
          <a:p>
            <a:pPr indent="0" marL="0">
              <a:buNone/>
            </a:pPr>
            <a:r>
              <a:rPr lang="en-US" sz="1000" dirty="0">
                <a:solidFill>
                  <a:srgbClr val="4A6A48"/>
                </a:solidFill>
              </a:rPr>
              <a:t>Monte quand tu as mangé suffisamment.</a:t>
            </a:r>
            <a:endParaRPr lang="en-US" sz="1000" dirty="0"/>
          </a:p>
          <a:p>
            <a:pPr indent="0" marL="0">
              <a:buNone/>
            </a:pPr>
            <a:r>
              <a:rPr lang="en-US" sz="1000" dirty="0">
                <a:solidFill>
                  <a:srgbClr val="4A6A48"/>
                </a:solidFill>
              </a:rPr>
              <a:t>Envoie le signal 'c'est bon, arrête' au cerveau.</a:t>
            </a:r>
            <a:endParaRPr lang="en-US" sz="1000" dirty="0"/>
          </a:p>
          <a:p>
            <a:pPr indent="0" marL="0">
              <a:buNone/>
            </a:pPr>
            <a:endParaRPr lang="en-US" sz="1000" dirty="0"/>
          </a:p>
          <a:p>
            <a:pPr indent="0" marL="0">
              <a:buNone/>
            </a:pPr>
            <a:r>
              <a:rPr lang="en-US" sz="1000" dirty="0">
                <a:solidFill>
                  <a:srgbClr val="4A6A48"/>
                </a:solidFill>
              </a:rPr>
              <a:t>Le stress chronique réduit la sensibilité à la leptine.</a:t>
            </a:r>
            <a:endParaRPr lang="en-US" sz="1000" dirty="0"/>
          </a:p>
          <a:p>
            <a:pPr indent="0" marL="0">
              <a:buNone/>
            </a:pPr>
            <a:r>
              <a:rPr lang="en-US" sz="1000" dirty="0">
                <a:solidFill>
                  <a:srgbClr val="4A6A48"/>
                </a:solidFill>
              </a:rPr>
              <a:t>→ On reçoit moins bien les signaux de satiété.</a:t>
            </a:r>
            <a:endParaRPr lang="en-US" sz="1000" dirty="0"/>
          </a:p>
          <a:p>
            <a:pPr indent="0" marL="0">
              <a:buNone/>
            </a:pPr>
            <a:endParaRPr lang="en-US" sz="1000" dirty="0"/>
          </a:p>
          <a:p>
            <a:pPr indent="0" marL="0">
              <a:buNone/>
            </a:pPr>
            <a:r>
              <a:rPr lang="en-US" sz="1000" dirty="0">
                <a:solidFill>
                  <a:srgbClr val="4A6A48"/>
                </a:solidFill>
              </a:rPr>
              <a:t>Manger devant un écran perturbe aussi</a:t>
            </a:r>
            <a:endParaRPr lang="en-US" sz="1000" dirty="0"/>
          </a:p>
          <a:p>
            <a:pPr indent="0" marL="0">
              <a:buNone/>
            </a:pPr>
            <a:r>
              <a:rPr lang="en-US" sz="1000" dirty="0">
                <a:solidFill>
                  <a:srgbClr val="4A6A48"/>
                </a:solidFill>
              </a:rPr>
              <a:t> la leptine → on ne sait plus quand s'arrêter.</a:t>
            </a:r>
            <a:endParaRPr lang="en-US" sz="1000" dirty="0"/>
          </a:p>
        </p:txBody>
      </p:sp>
      <p:sp>
        <p:nvSpPr>
          <p:cNvPr id="16" name="Shape 14"/>
          <p:cNvSpPr/>
          <p:nvPr/>
        </p:nvSpPr>
        <p:spPr>
          <a:xfrm>
            <a:off x="274320" y="3401568"/>
            <a:ext cx="8595360" cy="1481328"/>
          </a:xfrm>
          <a:prstGeom prst="rect">
            <a:avLst/>
          </a:prstGeom>
          <a:solidFill>
            <a:srgbClr val="FFF8E8"/>
          </a:solidFill>
          <a:ln w="12700">
            <a:solidFill>
              <a:srgbClr val="E8C040"/>
            </a:solidFill>
            <a:prstDash val="solid"/>
          </a:ln>
        </p:spPr>
      </p:sp>
      <p:sp>
        <p:nvSpPr>
          <p:cNvPr id="17" name="Text 15"/>
          <p:cNvSpPr/>
          <p:nvPr/>
        </p:nvSpPr>
        <p:spPr>
          <a:xfrm>
            <a:off x="457200" y="3493008"/>
            <a:ext cx="3657600" cy="347472"/>
          </a:xfrm>
          <a:prstGeom prst="rect">
            <a:avLst/>
          </a:prstGeom>
          <a:noFill/>
          <a:ln/>
        </p:spPr>
        <p:txBody>
          <a:bodyPr wrap="square" rtlCol="0" anchor="ctr"/>
          <a:lstStyle/>
          <a:p>
            <a:pPr indent="0" marL="0">
              <a:buNone/>
            </a:pPr>
            <a:r>
              <a:rPr lang="en-US" sz="1400" b="1" dirty="0">
                <a:solidFill>
                  <a:srgbClr val="B8860B"/>
                </a:solidFill>
                <a:latin typeface="Georgia" pitchFamily="34" charset="0"/>
                <a:ea typeface="Georgia" pitchFamily="34" charset="-122"/>
                <a:cs typeface="Georgia" pitchFamily="34" charset="-120"/>
              </a:rPr>
              <a:t>🇯🇵  Hara Hachi Bu</a:t>
            </a:r>
            <a:endParaRPr lang="en-US" sz="1400" dirty="0"/>
          </a:p>
        </p:txBody>
      </p:sp>
      <p:sp>
        <p:nvSpPr>
          <p:cNvPr id="18" name="Text 16"/>
          <p:cNvSpPr/>
          <p:nvPr/>
        </p:nvSpPr>
        <p:spPr>
          <a:xfrm>
            <a:off x="457200" y="3858768"/>
            <a:ext cx="8229600" cy="914400"/>
          </a:xfrm>
          <a:prstGeom prst="rect">
            <a:avLst/>
          </a:prstGeom>
          <a:noFill/>
          <a:ln/>
        </p:spPr>
        <p:txBody>
          <a:bodyPr wrap="square" rtlCol="0" anchor="ctr"/>
          <a:lstStyle/>
          <a:p>
            <a:pPr indent="0" marL="0">
              <a:buNone/>
            </a:pPr>
            <a:r>
              <a:rPr lang="en-US" sz="1000" dirty="0">
                <a:solidFill>
                  <a:srgbClr val="4A6A48"/>
                </a:solidFill>
              </a:rPr>
              <a:t>Concept japonais de l'île d'Okinawa — l'une des populations avec la plus haute espérance de vie au monde. "Manger jusqu'à 80% de sa capacité." S'arrêter avant d'être complètement rassasiée. Laisser une légère place. Cette pratique simple évite la surcharge digestive, réduit l'inflammation et aide à maintenir un poids stable sur le long terme.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DF8"/>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LES 5 GESTES</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PRATIQUE</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8 / 10</a:t>
            </a:r>
            <a:endParaRPr lang="en-US" sz="800" dirty="0"/>
          </a:p>
        </p:txBody>
      </p:sp>
      <p:sp>
        <p:nvSpPr>
          <p:cNvPr id="6" name="Text 4"/>
          <p:cNvSpPr/>
          <p:nvPr/>
        </p:nvSpPr>
        <p:spPr>
          <a:xfrm>
            <a:off x="457200" y="164592"/>
            <a:ext cx="8229600" cy="475488"/>
          </a:xfrm>
          <a:prstGeom prst="rect">
            <a:avLst/>
          </a:prstGeom>
          <a:noFill/>
          <a:ln/>
        </p:spPr>
        <p:txBody>
          <a:bodyPr wrap="square" rtlCol="0" anchor="ctr"/>
          <a:lstStyle/>
          <a:p>
            <a:pPr algn="ctr" indent="0" marL="0">
              <a:buNone/>
            </a:pPr>
            <a:r>
              <a:rPr lang="en-US" sz="2400" b="1" dirty="0">
                <a:solidFill>
                  <a:srgbClr val="1A3A18"/>
                </a:solidFill>
                <a:latin typeface="Georgia" pitchFamily="34" charset="0"/>
                <a:ea typeface="Georgia" pitchFamily="34" charset="-122"/>
                <a:cs typeface="Georgia" pitchFamily="34" charset="-120"/>
              </a:rPr>
              <a:t>Les 5 gestes à mettre en place dès cette semaine</a:t>
            </a:r>
            <a:endParaRPr lang="en-US" sz="2400" dirty="0"/>
          </a:p>
        </p:txBody>
      </p:sp>
      <p:sp>
        <p:nvSpPr>
          <p:cNvPr id="7" name="Shape 5"/>
          <p:cNvSpPr/>
          <p:nvPr/>
        </p:nvSpPr>
        <p:spPr>
          <a:xfrm>
            <a:off x="4297680" y="749808"/>
            <a:ext cx="548640" cy="36576"/>
          </a:xfrm>
          <a:prstGeom prst="rect">
            <a:avLst/>
          </a:prstGeom>
          <a:solidFill>
            <a:srgbClr val="B8860B"/>
          </a:solidFill>
          <a:ln w="12700">
            <a:solidFill>
              <a:srgbClr val="B8860B"/>
            </a:solidFill>
            <a:prstDash val="solid"/>
          </a:ln>
        </p:spPr>
      </p:sp>
      <p:sp>
        <p:nvSpPr>
          <p:cNvPr id="8" name="Shape 6"/>
          <p:cNvSpPr/>
          <p:nvPr/>
        </p:nvSpPr>
        <p:spPr>
          <a:xfrm>
            <a:off x="274320" y="987552"/>
            <a:ext cx="8595360" cy="713232"/>
          </a:xfrm>
          <a:prstGeom prst="rect">
            <a:avLst/>
          </a:prstGeom>
          <a:solidFill>
            <a:srgbClr val="FFFFFF"/>
          </a:solidFill>
          <a:ln w="10160">
            <a:solidFill>
              <a:srgbClr val="9DC498"/>
            </a:solidFill>
            <a:prstDash val="solid"/>
          </a:ln>
        </p:spPr>
      </p:sp>
      <p:sp>
        <p:nvSpPr>
          <p:cNvPr id="9" name="Shape 7"/>
          <p:cNvSpPr/>
          <p:nvPr/>
        </p:nvSpPr>
        <p:spPr>
          <a:xfrm>
            <a:off x="347472" y="1115568"/>
            <a:ext cx="457200" cy="457200"/>
          </a:xfrm>
          <a:prstGeom prst="ellipse">
            <a:avLst/>
          </a:prstGeom>
          <a:solidFill>
            <a:srgbClr val="2D5A27"/>
          </a:solidFill>
          <a:ln w="12700">
            <a:solidFill>
              <a:srgbClr val="2D5A27"/>
            </a:solidFill>
            <a:prstDash val="solid"/>
          </a:ln>
        </p:spPr>
      </p:sp>
      <p:sp>
        <p:nvSpPr>
          <p:cNvPr id="10" name="Text 8"/>
          <p:cNvSpPr/>
          <p:nvPr/>
        </p:nvSpPr>
        <p:spPr>
          <a:xfrm>
            <a:off x="347472" y="1115568"/>
            <a:ext cx="457200" cy="457200"/>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11" name="Text 9"/>
          <p:cNvSpPr/>
          <p:nvPr/>
        </p:nvSpPr>
        <p:spPr>
          <a:xfrm>
            <a:off x="960120" y="1078992"/>
            <a:ext cx="7772400" cy="292608"/>
          </a:xfrm>
          <a:prstGeom prst="rect">
            <a:avLst/>
          </a:prstGeom>
          <a:noFill/>
          <a:ln/>
        </p:spPr>
        <p:txBody>
          <a:bodyPr wrap="square" rtlCol="0" anchor="ctr"/>
          <a:lstStyle/>
          <a:p>
            <a:pPr indent="0" marL="0">
              <a:buNone/>
            </a:pPr>
            <a:r>
              <a:rPr lang="en-US" sz="1100" b="1" dirty="0">
                <a:solidFill>
                  <a:srgbClr val="2D5A27"/>
                </a:solidFill>
              </a:rPr>
              <a:t>🍴 Pose ta fourchette entre chaque bouchée</a:t>
            </a:r>
            <a:endParaRPr lang="en-US" sz="1100" dirty="0"/>
          </a:p>
        </p:txBody>
      </p:sp>
      <p:sp>
        <p:nvSpPr>
          <p:cNvPr id="12" name="Text 10"/>
          <p:cNvSpPr/>
          <p:nvPr/>
        </p:nvSpPr>
        <p:spPr>
          <a:xfrm>
            <a:off x="960120" y="1408176"/>
            <a:ext cx="7772400" cy="237744"/>
          </a:xfrm>
          <a:prstGeom prst="rect">
            <a:avLst/>
          </a:prstGeom>
          <a:noFill/>
          <a:ln/>
        </p:spPr>
        <p:txBody>
          <a:bodyPr wrap="square" rtlCol="0" anchor="ctr"/>
          <a:lstStyle/>
          <a:p>
            <a:pPr indent="0" marL="0">
              <a:buNone/>
            </a:pPr>
            <a:r>
              <a:rPr lang="en-US" sz="950" dirty="0">
                <a:solidFill>
                  <a:srgbClr val="4A6A48"/>
                </a:solidFill>
              </a:rPr>
              <a:t>Le geste le plus simple pour manger plus lentement. Tu poses. Tu mâches jusqu'à liquéfaction. Tu avales. Tu reprends. Change tout.</a:t>
            </a:r>
            <a:endParaRPr lang="en-US" sz="950" dirty="0"/>
          </a:p>
        </p:txBody>
      </p:sp>
      <p:sp>
        <p:nvSpPr>
          <p:cNvPr id="13" name="Shape 11"/>
          <p:cNvSpPr/>
          <p:nvPr/>
        </p:nvSpPr>
        <p:spPr>
          <a:xfrm>
            <a:off x="274320" y="1810512"/>
            <a:ext cx="8595360" cy="713232"/>
          </a:xfrm>
          <a:prstGeom prst="rect">
            <a:avLst/>
          </a:prstGeom>
          <a:solidFill>
            <a:srgbClr val="FFFFFF"/>
          </a:solidFill>
          <a:ln w="10160">
            <a:solidFill>
              <a:srgbClr val="9DC498"/>
            </a:solidFill>
            <a:prstDash val="solid"/>
          </a:ln>
        </p:spPr>
      </p:sp>
      <p:sp>
        <p:nvSpPr>
          <p:cNvPr id="14" name="Shape 12"/>
          <p:cNvSpPr/>
          <p:nvPr/>
        </p:nvSpPr>
        <p:spPr>
          <a:xfrm>
            <a:off x="347472" y="1938528"/>
            <a:ext cx="457200" cy="457200"/>
          </a:xfrm>
          <a:prstGeom prst="ellipse">
            <a:avLst/>
          </a:prstGeom>
          <a:solidFill>
            <a:srgbClr val="4A8A42"/>
          </a:solidFill>
          <a:ln w="12700">
            <a:solidFill>
              <a:srgbClr val="4A8A42"/>
            </a:solidFill>
            <a:prstDash val="solid"/>
          </a:ln>
        </p:spPr>
      </p:sp>
      <p:sp>
        <p:nvSpPr>
          <p:cNvPr id="15" name="Text 13"/>
          <p:cNvSpPr/>
          <p:nvPr/>
        </p:nvSpPr>
        <p:spPr>
          <a:xfrm>
            <a:off x="347472" y="1938528"/>
            <a:ext cx="457200" cy="457200"/>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6" name="Text 14"/>
          <p:cNvSpPr/>
          <p:nvPr/>
        </p:nvSpPr>
        <p:spPr>
          <a:xfrm>
            <a:off x="960120" y="1901952"/>
            <a:ext cx="7772400" cy="292608"/>
          </a:xfrm>
          <a:prstGeom prst="rect">
            <a:avLst/>
          </a:prstGeom>
          <a:noFill/>
          <a:ln/>
        </p:spPr>
        <p:txBody>
          <a:bodyPr wrap="square" rtlCol="0" anchor="ctr"/>
          <a:lstStyle/>
          <a:p>
            <a:pPr indent="0" marL="0">
              <a:buNone/>
            </a:pPr>
            <a:r>
              <a:rPr lang="en-US" sz="1100" b="1" dirty="0">
                <a:solidFill>
                  <a:srgbClr val="2D5A27"/>
                </a:solidFill>
              </a:rPr>
              <a:t>📵 Éteins l'écran pendant les repas</a:t>
            </a:r>
            <a:endParaRPr lang="en-US" sz="1100" dirty="0"/>
          </a:p>
        </p:txBody>
      </p:sp>
      <p:sp>
        <p:nvSpPr>
          <p:cNvPr id="17" name="Text 15"/>
          <p:cNvSpPr/>
          <p:nvPr/>
        </p:nvSpPr>
        <p:spPr>
          <a:xfrm>
            <a:off x="960120" y="2231136"/>
            <a:ext cx="7772400" cy="237744"/>
          </a:xfrm>
          <a:prstGeom prst="rect">
            <a:avLst/>
          </a:prstGeom>
          <a:noFill/>
          <a:ln/>
        </p:spPr>
        <p:txBody>
          <a:bodyPr wrap="square" rtlCol="0" anchor="ctr"/>
          <a:lstStyle/>
          <a:p>
            <a:pPr indent="0" marL="0">
              <a:buNone/>
            </a:pPr>
            <a:r>
              <a:rPr lang="en-US" sz="950" dirty="0">
                <a:solidFill>
                  <a:srgbClr val="4A6A48"/>
                </a:solidFill>
              </a:rPr>
              <a:t>Téléphone retourné. Télévision éteinte. 10-20 minutes sans écran pour le déjeuner et le dîner. Ton système digestif te remerciera.</a:t>
            </a:r>
            <a:endParaRPr lang="en-US" sz="950" dirty="0"/>
          </a:p>
        </p:txBody>
      </p:sp>
      <p:sp>
        <p:nvSpPr>
          <p:cNvPr id="18" name="Shape 16"/>
          <p:cNvSpPr/>
          <p:nvPr/>
        </p:nvSpPr>
        <p:spPr>
          <a:xfrm>
            <a:off x="274320" y="2633472"/>
            <a:ext cx="8595360" cy="713232"/>
          </a:xfrm>
          <a:prstGeom prst="rect">
            <a:avLst/>
          </a:prstGeom>
          <a:solidFill>
            <a:srgbClr val="FFFFFF"/>
          </a:solidFill>
          <a:ln w="10160">
            <a:solidFill>
              <a:srgbClr val="9DC498"/>
            </a:solidFill>
            <a:prstDash val="solid"/>
          </a:ln>
        </p:spPr>
      </p:sp>
      <p:sp>
        <p:nvSpPr>
          <p:cNvPr id="19" name="Shape 17"/>
          <p:cNvSpPr/>
          <p:nvPr/>
        </p:nvSpPr>
        <p:spPr>
          <a:xfrm>
            <a:off x="347472" y="2761488"/>
            <a:ext cx="457200" cy="457200"/>
          </a:xfrm>
          <a:prstGeom prst="ellipse">
            <a:avLst/>
          </a:prstGeom>
          <a:solidFill>
            <a:srgbClr val="B8860B"/>
          </a:solidFill>
          <a:ln w="12700">
            <a:solidFill>
              <a:srgbClr val="B8860B"/>
            </a:solidFill>
            <a:prstDash val="solid"/>
          </a:ln>
        </p:spPr>
      </p:sp>
      <p:sp>
        <p:nvSpPr>
          <p:cNvPr id="20" name="Text 18"/>
          <p:cNvSpPr/>
          <p:nvPr/>
        </p:nvSpPr>
        <p:spPr>
          <a:xfrm>
            <a:off x="347472" y="2761488"/>
            <a:ext cx="457200" cy="457200"/>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21" name="Text 19"/>
          <p:cNvSpPr/>
          <p:nvPr/>
        </p:nvSpPr>
        <p:spPr>
          <a:xfrm>
            <a:off x="960120" y="2724912"/>
            <a:ext cx="7772400" cy="292608"/>
          </a:xfrm>
          <a:prstGeom prst="rect">
            <a:avLst/>
          </a:prstGeom>
          <a:noFill/>
          <a:ln/>
        </p:spPr>
        <p:txBody>
          <a:bodyPr wrap="square" rtlCol="0" anchor="ctr"/>
          <a:lstStyle/>
          <a:p>
            <a:pPr indent="0" marL="0">
              <a:buNone/>
            </a:pPr>
            <a:r>
              <a:rPr lang="en-US" sz="1100" b="1" dirty="0">
                <a:solidFill>
                  <a:srgbClr val="2D5A27"/>
                </a:solidFill>
              </a:rPr>
              <a:t>🌬️ 3 respirations profondes avant de manger</a:t>
            </a:r>
            <a:endParaRPr lang="en-US" sz="1100" dirty="0"/>
          </a:p>
        </p:txBody>
      </p:sp>
      <p:sp>
        <p:nvSpPr>
          <p:cNvPr id="22" name="Text 20"/>
          <p:cNvSpPr/>
          <p:nvPr/>
        </p:nvSpPr>
        <p:spPr>
          <a:xfrm>
            <a:off x="960120" y="3054096"/>
            <a:ext cx="7772400" cy="237744"/>
          </a:xfrm>
          <a:prstGeom prst="rect">
            <a:avLst/>
          </a:prstGeom>
          <a:noFill/>
          <a:ln/>
        </p:spPr>
        <p:txBody>
          <a:bodyPr wrap="square" rtlCol="0" anchor="ctr"/>
          <a:lstStyle/>
          <a:p>
            <a:pPr indent="0" marL="0">
              <a:buNone/>
            </a:pPr>
            <a:r>
              <a:rPr lang="en-US" sz="950" dirty="0">
                <a:solidFill>
                  <a:srgbClr val="4A6A48"/>
                </a:solidFill>
              </a:rPr>
              <a:t>30 secondes. Inspire profondément par le nez. Expire lentement. Répète 3 fois. Active le nerf vague. Passe en mode parasympathique. Prépare le système digestif.</a:t>
            </a:r>
            <a:endParaRPr lang="en-US" sz="950" dirty="0"/>
          </a:p>
        </p:txBody>
      </p:sp>
      <p:sp>
        <p:nvSpPr>
          <p:cNvPr id="23" name="Shape 21"/>
          <p:cNvSpPr/>
          <p:nvPr/>
        </p:nvSpPr>
        <p:spPr>
          <a:xfrm>
            <a:off x="274320" y="3456432"/>
            <a:ext cx="8595360" cy="713232"/>
          </a:xfrm>
          <a:prstGeom prst="rect">
            <a:avLst/>
          </a:prstGeom>
          <a:solidFill>
            <a:srgbClr val="FFFFFF"/>
          </a:solidFill>
          <a:ln w="10160">
            <a:solidFill>
              <a:srgbClr val="9DC498"/>
            </a:solidFill>
            <a:prstDash val="solid"/>
          </a:ln>
        </p:spPr>
      </p:sp>
      <p:sp>
        <p:nvSpPr>
          <p:cNvPr id="24" name="Shape 22"/>
          <p:cNvSpPr/>
          <p:nvPr/>
        </p:nvSpPr>
        <p:spPr>
          <a:xfrm>
            <a:off x="347472" y="3584448"/>
            <a:ext cx="457200" cy="457200"/>
          </a:xfrm>
          <a:prstGeom prst="ellipse">
            <a:avLst/>
          </a:prstGeom>
          <a:solidFill>
            <a:srgbClr val="2D5A27"/>
          </a:solidFill>
          <a:ln w="12700">
            <a:solidFill>
              <a:srgbClr val="2D5A27"/>
            </a:solidFill>
            <a:prstDash val="solid"/>
          </a:ln>
        </p:spPr>
      </p:sp>
      <p:sp>
        <p:nvSpPr>
          <p:cNvPr id="25" name="Text 23"/>
          <p:cNvSpPr/>
          <p:nvPr/>
        </p:nvSpPr>
        <p:spPr>
          <a:xfrm>
            <a:off x="347472" y="3584448"/>
            <a:ext cx="457200" cy="457200"/>
          </a:xfrm>
          <a:prstGeom prst="rect">
            <a:avLst/>
          </a:prstGeom>
          <a:noFill/>
          <a:ln/>
        </p:spPr>
        <p:txBody>
          <a:bodyPr wrap="square" rtlCol="0" anchor="ctr"/>
          <a:lstStyle/>
          <a:p>
            <a:pPr algn="ctr" indent="0" marL="0">
              <a:buNone/>
            </a:pPr>
            <a:r>
              <a:rPr lang="en-US" sz="1600" b="1" dirty="0">
                <a:solidFill>
                  <a:srgbClr val="FFFFFF"/>
                </a:solidFill>
              </a:rPr>
              <a:t>4</a:t>
            </a:r>
            <a:endParaRPr lang="en-US" sz="1600" dirty="0"/>
          </a:p>
        </p:txBody>
      </p:sp>
      <p:sp>
        <p:nvSpPr>
          <p:cNvPr id="26" name="Text 24"/>
          <p:cNvSpPr/>
          <p:nvPr/>
        </p:nvSpPr>
        <p:spPr>
          <a:xfrm>
            <a:off x="960120" y="3547872"/>
            <a:ext cx="7772400" cy="292608"/>
          </a:xfrm>
          <a:prstGeom prst="rect">
            <a:avLst/>
          </a:prstGeom>
          <a:noFill/>
          <a:ln/>
        </p:spPr>
        <p:txBody>
          <a:bodyPr wrap="square" rtlCol="0" anchor="ctr"/>
          <a:lstStyle/>
          <a:p>
            <a:pPr indent="0" marL="0">
              <a:buNone/>
            </a:pPr>
            <a:r>
              <a:rPr lang="en-US" sz="1100" b="1" dirty="0">
                <a:solidFill>
                  <a:srgbClr val="2D5A27"/>
                </a:solidFill>
              </a:rPr>
              <a:t>🪑 Mange assis à une vraie table</a:t>
            </a:r>
            <a:endParaRPr lang="en-US" sz="1100" dirty="0"/>
          </a:p>
        </p:txBody>
      </p:sp>
      <p:sp>
        <p:nvSpPr>
          <p:cNvPr id="27" name="Text 25"/>
          <p:cNvSpPr/>
          <p:nvPr/>
        </p:nvSpPr>
        <p:spPr>
          <a:xfrm>
            <a:off x="960120" y="3877056"/>
            <a:ext cx="7772400" cy="237744"/>
          </a:xfrm>
          <a:prstGeom prst="rect">
            <a:avLst/>
          </a:prstGeom>
          <a:noFill/>
          <a:ln/>
        </p:spPr>
        <p:txBody>
          <a:bodyPr wrap="square" rtlCol="0" anchor="ctr"/>
          <a:lstStyle/>
          <a:p>
            <a:pPr indent="0" marL="0">
              <a:buNone/>
            </a:pPr>
            <a:r>
              <a:rPr lang="en-US" sz="950" dirty="0">
                <a:solidFill>
                  <a:srgbClr val="4A6A48"/>
                </a:solidFill>
              </a:rPr>
              <a:t>Pas debout, pas dans la voiture, pas en marchant. Assis, les deux pieds au sol. Cette posture seule améliore la digestion et active les signaux de satiété.</a:t>
            </a:r>
            <a:endParaRPr lang="en-US" sz="950" dirty="0"/>
          </a:p>
        </p:txBody>
      </p:sp>
      <p:sp>
        <p:nvSpPr>
          <p:cNvPr id="28" name="Shape 26"/>
          <p:cNvSpPr/>
          <p:nvPr/>
        </p:nvSpPr>
        <p:spPr>
          <a:xfrm>
            <a:off x="274320" y="4279392"/>
            <a:ext cx="8595360" cy="713232"/>
          </a:xfrm>
          <a:prstGeom prst="rect">
            <a:avLst/>
          </a:prstGeom>
          <a:solidFill>
            <a:srgbClr val="FFFFFF"/>
          </a:solidFill>
          <a:ln w="10160">
            <a:solidFill>
              <a:srgbClr val="9DC498"/>
            </a:solidFill>
            <a:prstDash val="solid"/>
          </a:ln>
        </p:spPr>
      </p:sp>
      <p:sp>
        <p:nvSpPr>
          <p:cNvPr id="29" name="Shape 27"/>
          <p:cNvSpPr/>
          <p:nvPr/>
        </p:nvSpPr>
        <p:spPr>
          <a:xfrm>
            <a:off x="347472" y="4407408"/>
            <a:ext cx="457200" cy="457200"/>
          </a:xfrm>
          <a:prstGeom prst="ellipse">
            <a:avLst/>
          </a:prstGeom>
          <a:solidFill>
            <a:srgbClr val="4A8A42"/>
          </a:solidFill>
          <a:ln w="12700">
            <a:solidFill>
              <a:srgbClr val="4A8A42"/>
            </a:solidFill>
            <a:prstDash val="solid"/>
          </a:ln>
        </p:spPr>
      </p:sp>
      <p:sp>
        <p:nvSpPr>
          <p:cNvPr id="30" name="Text 28"/>
          <p:cNvSpPr/>
          <p:nvPr/>
        </p:nvSpPr>
        <p:spPr>
          <a:xfrm>
            <a:off x="347472" y="4407408"/>
            <a:ext cx="457200" cy="457200"/>
          </a:xfrm>
          <a:prstGeom prst="rect">
            <a:avLst/>
          </a:prstGeom>
          <a:noFill/>
          <a:ln/>
        </p:spPr>
        <p:txBody>
          <a:bodyPr wrap="square" rtlCol="0" anchor="ctr"/>
          <a:lstStyle/>
          <a:p>
            <a:pPr algn="ctr" indent="0" marL="0">
              <a:buNone/>
            </a:pPr>
            <a:r>
              <a:rPr lang="en-US" sz="1600" b="1" dirty="0">
                <a:solidFill>
                  <a:srgbClr val="FFFFFF"/>
                </a:solidFill>
              </a:rPr>
              <a:t>5</a:t>
            </a:r>
            <a:endParaRPr lang="en-US" sz="1600" dirty="0"/>
          </a:p>
        </p:txBody>
      </p:sp>
      <p:sp>
        <p:nvSpPr>
          <p:cNvPr id="31" name="Text 29"/>
          <p:cNvSpPr/>
          <p:nvPr/>
        </p:nvSpPr>
        <p:spPr>
          <a:xfrm>
            <a:off x="960120" y="4370832"/>
            <a:ext cx="7772400" cy="292608"/>
          </a:xfrm>
          <a:prstGeom prst="rect">
            <a:avLst/>
          </a:prstGeom>
          <a:noFill/>
          <a:ln/>
        </p:spPr>
        <p:txBody>
          <a:bodyPr wrap="square" rtlCol="0" anchor="ctr"/>
          <a:lstStyle/>
          <a:p>
            <a:pPr indent="0" marL="0">
              <a:buNone/>
            </a:pPr>
            <a:r>
              <a:rPr lang="en-US" sz="1100" b="1" dirty="0">
                <a:solidFill>
                  <a:srgbClr val="2D5A27"/>
                </a:solidFill>
              </a:rPr>
              <a:t>⏱️ Laisse 3 heures minimum entre les repas</a:t>
            </a:r>
            <a:endParaRPr lang="en-US" sz="1100" dirty="0"/>
          </a:p>
        </p:txBody>
      </p:sp>
      <p:sp>
        <p:nvSpPr>
          <p:cNvPr id="32" name="Text 30"/>
          <p:cNvSpPr/>
          <p:nvPr/>
        </p:nvSpPr>
        <p:spPr>
          <a:xfrm>
            <a:off x="960120" y="4700016"/>
            <a:ext cx="7772400" cy="237744"/>
          </a:xfrm>
          <a:prstGeom prst="rect">
            <a:avLst/>
          </a:prstGeom>
          <a:noFill/>
          <a:ln/>
        </p:spPr>
        <p:txBody>
          <a:bodyPr wrap="square" rtlCol="0" anchor="ctr"/>
          <a:lstStyle/>
          <a:p>
            <a:pPr indent="0" marL="0">
              <a:buNone/>
            </a:pPr>
            <a:r>
              <a:rPr lang="en-US" sz="950" dirty="0">
                <a:solidFill>
                  <a:srgbClr val="4A6A48"/>
                </a:solidFill>
              </a:rPr>
              <a:t>Pas de grignotage constant. Entre les repas, l'intestin fait son grand nettoyage (complexe moteur migrant). Ce processus ne fonctionne qu'à jeun. Grignoter en permanence l'interrompt constamment.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EE"/>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LA SUITE</a:t>
            </a:r>
            <a:endParaRPr lang="en-US" sz="700" dirty="0"/>
          </a:p>
        </p:txBody>
      </p:sp>
      <p:sp>
        <p:nvSpPr>
          <p:cNvPr id="3" name="Text 1"/>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9 / 10</a:t>
            </a:r>
            <a:endParaRPr lang="en-US" sz="800" dirty="0"/>
          </a:p>
        </p:txBody>
      </p:sp>
      <p:sp>
        <p:nvSpPr>
          <p:cNvPr id="4" name="Text 2"/>
          <p:cNvSpPr/>
          <p:nvPr/>
        </p:nvSpPr>
        <p:spPr>
          <a:xfrm>
            <a:off x="457200" y="256032"/>
            <a:ext cx="8229600" cy="502920"/>
          </a:xfrm>
          <a:prstGeom prst="rect">
            <a:avLst/>
          </a:prstGeom>
          <a:noFill/>
          <a:ln/>
        </p:spPr>
        <p:txBody>
          <a:bodyPr wrap="square" rtlCol="0" anchor="ctr"/>
          <a:lstStyle/>
          <a:p>
            <a:pPr algn="ctr" indent="0" marL="0">
              <a:buNone/>
            </a:pPr>
            <a:r>
              <a:rPr lang="en-US" sz="2600" b="1" dirty="0">
                <a:solidFill>
                  <a:srgbClr val="1A3A18"/>
                </a:solidFill>
                <a:latin typeface="Georgia" pitchFamily="34" charset="0"/>
                <a:ea typeface="Georgia" pitchFamily="34" charset="-122"/>
                <a:cs typeface="Georgia" pitchFamily="34" charset="-120"/>
              </a:rPr>
              <a:t>Dans la dernière vidéo</a:t>
            </a:r>
            <a:endParaRPr lang="en-US" sz="2600" dirty="0"/>
          </a:p>
        </p:txBody>
      </p:sp>
      <p:sp>
        <p:nvSpPr>
          <p:cNvPr id="5" name="Shape 3"/>
          <p:cNvSpPr/>
          <p:nvPr/>
        </p:nvSpPr>
        <p:spPr>
          <a:xfrm>
            <a:off x="4297680" y="877824"/>
            <a:ext cx="548640" cy="36576"/>
          </a:xfrm>
          <a:prstGeom prst="rect">
            <a:avLst/>
          </a:prstGeom>
          <a:solidFill>
            <a:srgbClr val="B8860B"/>
          </a:solidFill>
          <a:ln w="12700">
            <a:solidFill>
              <a:srgbClr val="B8860B"/>
            </a:solidFill>
            <a:prstDash val="solid"/>
          </a:ln>
        </p:spPr>
      </p:sp>
      <p:sp>
        <p:nvSpPr>
          <p:cNvPr id="6" name="Shape 4"/>
          <p:cNvSpPr/>
          <p:nvPr/>
        </p:nvSpPr>
        <p:spPr>
          <a:xfrm>
            <a:off x="274320" y="1051560"/>
            <a:ext cx="8595360" cy="2304288"/>
          </a:xfrm>
          <a:prstGeom prst="rect">
            <a:avLst/>
          </a:prstGeom>
          <a:solidFill>
            <a:srgbClr val="2D5A27"/>
          </a:solidFill>
          <a:ln w="10160">
            <a:solidFill>
              <a:srgbClr val="2D5A27"/>
            </a:solidFill>
            <a:prstDash val="solid"/>
          </a:ln>
        </p:spPr>
      </p:sp>
      <p:sp>
        <p:nvSpPr>
          <p:cNvPr id="7" name="Text 5"/>
          <p:cNvSpPr/>
          <p:nvPr/>
        </p:nvSpPr>
        <p:spPr>
          <a:xfrm>
            <a:off x="457200" y="1234440"/>
            <a:ext cx="8229600" cy="594360"/>
          </a:xfrm>
          <a:prstGeom prst="rect">
            <a:avLst/>
          </a:prstGeom>
          <a:noFill/>
          <a:ln/>
        </p:spPr>
        <p:txBody>
          <a:bodyPr wrap="square" rtlCol="0" anchor="ctr"/>
          <a:lstStyle/>
          <a:p>
            <a:pPr algn="ctr" indent="0" marL="0">
              <a:buNone/>
            </a:pPr>
            <a:r>
              <a:rPr lang="en-US" sz="2800" b="1" dirty="0">
                <a:solidFill>
                  <a:srgbClr val="E8C040"/>
                </a:solidFill>
                <a:latin typeface="Georgia" pitchFamily="34" charset="0"/>
                <a:ea typeface="Georgia" pitchFamily="34" charset="-122"/>
                <a:cs typeface="Georgia" pitchFamily="34" charset="-120"/>
              </a:rPr>
              <a:t>Ton plan d'action 30 jours</a:t>
            </a:r>
            <a:endParaRPr lang="en-US" sz="2800" dirty="0"/>
          </a:p>
        </p:txBody>
      </p:sp>
      <p:sp>
        <p:nvSpPr>
          <p:cNvPr id="8" name="Shape 6"/>
          <p:cNvSpPr/>
          <p:nvPr/>
        </p:nvSpPr>
        <p:spPr>
          <a:xfrm>
            <a:off x="4160520" y="1920240"/>
            <a:ext cx="822960" cy="36576"/>
          </a:xfrm>
          <a:prstGeom prst="rect">
            <a:avLst/>
          </a:prstGeom>
          <a:solidFill>
            <a:srgbClr val="E8C040"/>
          </a:solidFill>
          <a:ln w="12700">
            <a:solidFill>
              <a:srgbClr val="E8C040"/>
            </a:solidFill>
            <a:prstDash val="solid"/>
          </a:ln>
        </p:spPr>
      </p:sp>
      <p:sp>
        <p:nvSpPr>
          <p:cNvPr id="9" name="Text 7"/>
          <p:cNvSpPr/>
          <p:nvPr/>
        </p:nvSpPr>
        <p:spPr>
          <a:xfrm>
            <a:off x="457200" y="2084832"/>
            <a:ext cx="8229600" cy="804672"/>
          </a:xfrm>
          <a:prstGeom prst="rect">
            <a:avLst/>
          </a:prstGeom>
          <a:noFill/>
          <a:ln/>
        </p:spPr>
        <p:txBody>
          <a:bodyPr wrap="square" rtlCol="0" anchor="ctr"/>
          <a:lstStyle/>
          <a:p>
            <a:pPr algn="ctr" indent="0" marL="0">
              <a:buNone/>
            </a:pPr>
            <a:r>
              <a:rPr lang="en-US" sz="1200" dirty="0">
                <a:solidFill>
                  <a:srgbClr val="9DC498"/>
                </a:solidFill>
              </a:rPr>
              <a:t>Mettre en pratique tout ce qu'on a appris ensemble.</a:t>
            </a:r>
            <a:endParaRPr lang="en-US" sz="1200" dirty="0"/>
          </a:p>
          <a:p>
            <a:pPr algn="ctr" indent="0" marL="0">
              <a:buNone/>
            </a:pPr>
            <a:r>
              <a:rPr lang="en-US" sz="1200" dirty="0">
                <a:solidFill>
                  <a:srgbClr val="9DC498"/>
                </a:solidFill>
              </a:rPr>
              <a:t>Étape par étape. Sans se sentir submergée.</a:t>
            </a:r>
            <a:endParaRPr lang="en-US" sz="1200" dirty="0"/>
          </a:p>
          <a:p>
            <a:pPr algn="ctr" indent="0" marL="0">
              <a:buNone/>
            </a:pPr>
            <a:r>
              <a:rPr lang="en-US" sz="1200" dirty="0">
                <a:solidFill>
                  <a:srgbClr val="9DC498"/>
                </a:solidFill>
              </a:rPr>
              <a:t>Un vrai plan pour transformer ton terrain en 30 jours.</a:t>
            </a:r>
            <a:endParaRPr lang="en-US" sz="1200" dirty="0"/>
          </a:p>
        </p:txBody>
      </p:sp>
      <p:sp>
        <p:nvSpPr>
          <p:cNvPr id="10" name="Shape 8"/>
          <p:cNvSpPr/>
          <p:nvPr/>
        </p:nvSpPr>
        <p:spPr>
          <a:xfrm>
            <a:off x="548640" y="3547872"/>
            <a:ext cx="1874520" cy="1298448"/>
          </a:xfrm>
          <a:prstGeom prst="roundRect">
            <a:avLst>
              <a:gd name="adj" fmla="val 5634"/>
            </a:avLst>
          </a:prstGeom>
          <a:solidFill>
            <a:srgbClr val="FFFFFF"/>
          </a:solidFill>
          <a:ln w="10160">
            <a:solidFill>
              <a:srgbClr val="9DC498"/>
            </a:solidFill>
            <a:prstDash val="solid"/>
          </a:ln>
        </p:spPr>
      </p:sp>
      <p:sp>
        <p:nvSpPr>
          <p:cNvPr id="11" name="Text 9"/>
          <p:cNvSpPr/>
          <p:nvPr/>
        </p:nvSpPr>
        <p:spPr>
          <a:xfrm>
            <a:off x="548640" y="3611880"/>
            <a:ext cx="1874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548640" y="4087368"/>
            <a:ext cx="1874520" cy="274320"/>
          </a:xfrm>
          <a:prstGeom prst="rect">
            <a:avLst/>
          </a:prstGeom>
          <a:noFill/>
          <a:ln/>
        </p:spPr>
        <p:txBody>
          <a:bodyPr wrap="square" rtlCol="0" anchor="ctr"/>
          <a:lstStyle/>
          <a:p>
            <a:pPr algn="ctr" indent="0" marL="0">
              <a:buNone/>
            </a:pPr>
            <a:r>
              <a:rPr lang="en-US" sz="1000" b="1" dirty="0">
                <a:solidFill>
                  <a:srgbClr val="2D5A27"/>
                </a:solidFill>
              </a:rPr>
              <a:t>Semaine 1-2</a:t>
            </a:r>
            <a:endParaRPr lang="en-US" sz="1000" dirty="0"/>
          </a:p>
        </p:txBody>
      </p:sp>
      <p:sp>
        <p:nvSpPr>
          <p:cNvPr id="13" name="Text 11"/>
          <p:cNvSpPr/>
          <p:nvPr/>
        </p:nvSpPr>
        <p:spPr>
          <a:xfrm>
            <a:off x="548640" y="4370832"/>
            <a:ext cx="1874520" cy="384048"/>
          </a:xfrm>
          <a:prstGeom prst="rect">
            <a:avLst/>
          </a:prstGeom>
          <a:noFill/>
          <a:ln/>
        </p:spPr>
        <p:txBody>
          <a:bodyPr wrap="square" rtlCol="0" anchor="ctr"/>
          <a:lstStyle/>
          <a:p>
            <a:pPr algn="ctr" indent="0" marL="0">
              <a:buNone/>
            </a:pPr>
            <a:r>
              <a:rPr lang="en-US" sz="900" dirty="0">
                <a:solidFill>
                  <a:srgbClr val="4A6A48"/>
                </a:solidFill>
              </a:rPr>
              <a:t>Les premières</a:t>
            </a:r>
            <a:endParaRPr lang="en-US" sz="900" dirty="0"/>
          </a:p>
          <a:p>
            <a:pPr algn="ctr" indent="0" marL="0">
              <a:buNone/>
            </a:pPr>
            <a:r>
              <a:rPr lang="en-US" sz="900" dirty="0">
                <a:solidFill>
                  <a:srgbClr val="4A6A48"/>
                </a:solidFill>
              </a:rPr>
              <a:t>habitudes alimentaires</a:t>
            </a:r>
            <a:endParaRPr lang="en-US" sz="900" dirty="0"/>
          </a:p>
        </p:txBody>
      </p:sp>
      <p:sp>
        <p:nvSpPr>
          <p:cNvPr id="14" name="Shape 12"/>
          <p:cNvSpPr/>
          <p:nvPr/>
        </p:nvSpPr>
        <p:spPr>
          <a:xfrm>
            <a:off x="2606040" y="3547872"/>
            <a:ext cx="1874520" cy="1298448"/>
          </a:xfrm>
          <a:prstGeom prst="roundRect">
            <a:avLst>
              <a:gd name="adj" fmla="val 5634"/>
            </a:avLst>
          </a:prstGeom>
          <a:solidFill>
            <a:srgbClr val="FFFFFF"/>
          </a:solidFill>
          <a:ln w="10160">
            <a:solidFill>
              <a:srgbClr val="9DC498"/>
            </a:solidFill>
            <a:prstDash val="solid"/>
          </a:ln>
        </p:spPr>
      </p:sp>
      <p:sp>
        <p:nvSpPr>
          <p:cNvPr id="15" name="Text 13"/>
          <p:cNvSpPr/>
          <p:nvPr/>
        </p:nvSpPr>
        <p:spPr>
          <a:xfrm>
            <a:off x="2606040" y="3611880"/>
            <a:ext cx="1874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2606040" y="4087368"/>
            <a:ext cx="1874520" cy="274320"/>
          </a:xfrm>
          <a:prstGeom prst="rect">
            <a:avLst/>
          </a:prstGeom>
          <a:noFill/>
          <a:ln/>
        </p:spPr>
        <p:txBody>
          <a:bodyPr wrap="square" rtlCol="0" anchor="ctr"/>
          <a:lstStyle/>
          <a:p>
            <a:pPr algn="ctr" indent="0" marL="0">
              <a:buNone/>
            </a:pPr>
            <a:r>
              <a:rPr lang="en-US" sz="1000" b="1" dirty="0">
                <a:solidFill>
                  <a:srgbClr val="2D5A27"/>
                </a:solidFill>
              </a:rPr>
              <a:t>Semaine 2-3</a:t>
            </a:r>
            <a:endParaRPr lang="en-US" sz="1000" dirty="0"/>
          </a:p>
        </p:txBody>
      </p:sp>
      <p:sp>
        <p:nvSpPr>
          <p:cNvPr id="17" name="Text 15"/>
          <p:cNvSpPr/>
          <p:nvPr/>
        </p:nvSpPr>
        <p:spPr>
          <a:xfrm>
            <a:off x="2606040" y="4370832"/>
            <a:ext cx="1874520" cy="384048"/>
          </a:xfrm>
          <a:prstGeom prst="rect">
            <a:avLst/>
          </a:prstGeom>
          <a:noFill/>
          <a:ln/>
        </p:spPr>
        <p:txBody>
          <a:bodyPr wrap="square" rtlCol="0" anchor="ctr"/>
          <a:lstStyle/>
          <a:p>
            <a:pPr algn="ctr" indent="0" marL="0">
              <a:buNone/>
            </a:pPr>
            <a:r>
              <a:rPr lang="en-US" sz="900" dirty="0">
                <a:solidFill>
                  <a:srgbClr val="4A6A48"/>
                </a:solidFill>
              </a:rPr>
              <a:t>Les aliments phares</a:t>
            </a:r>
            <a:endParaRPr lang="en-US" sz="900" dirty="0"/>
          </a:p>
          <a:p>
            <a:pPr algn="ctr" indent="0" marL="0">
              <a:buNone/>
            </a:pPr>
            <a:r>
              <a:rPr lang="en-US" sz="900" dirty="0">
                <a:solidFill>
                  <a:srgbClr val="4A6A48"/>
                </a:solidFill>
              </a:rPr>
              <a:t>en pratique</a:t>
            </a:r>
            <a:endParaRPr lang="en-US" sz="900" dirty="0"/>
          </a:p>
        </p:txBody>
      </p:sp>
      <p:sp>
        <p:nvSpPr>
          <p:cNvPr id="18" name="Shape 16"/>
          <p:cNvSpPr/>
          <p:nvPr/>
        </p:nvSpPr>
        <p:spPr>
          <a:xfrm>
            <a:off x="4663440" y="3547872"/>
            <a:ext cx="1874520" cy="1298448"/>
          </a:xfrm>
          <a:prstGeom prst="roundRect">
            <a:avLst>
              <a:gd name="adj" fmla="val 5634"/>
            </a:avLst>
          </a:prstGeom>
          <a:solidFill>
            <a:srgbClr val="FFFFFF"/>
          </a:solidFill>
          <a:ln w="10160">
            <a:solidFill>
              <a:srgbClr val="9DC498"/>
            </a:solidFill>
            <a:prstDash val="solid"/>
          </a:ln>
        </p:spPr>
      </p:sp>
      <p:sp>
        <p:nvSpPr>
          <p:cNvPr id="19" name="Text 17"/>
          <p:cNvSpPr/>
          <p:nvPr/>
        </p:nvSpPr>
        <p:spPr>
          <a:xfrm>
            <a:off x="4663440" y="3611880"/>
            <a:ext cx="1874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4663440" y="4087368"/>
            <a:ext cx="1874520" cy="274320"/>
          </a:xfrm>
          <a:prstGeom prst="rect">
            <a:avLst/>
          </a:prstGeom>
          <a:noFill/>
          <a:ln/>
        </p:spPr>
        <p:txBody>
          <a:bodyPr wrap="square" rtlCol="0" anchor="ctr"/>
          <a:lstStyle/>
          <a:p>
            <a:pPr algn="ctr" indent="0" marL="0">
              <a:buNone/>
            </a:pPr>
            <a:r>
              <a:rPr lang="en-US" sz="1000" b="1" dirty="0">
                <a:solidFill>
                  <a:srgbClr val="2D5A27"/>
                </a:solidFill>
              </a:rPr>
              <a:t>Semaine 3-4</a:t>
            </a:r>
            <a:endParaRPr lang="en-US" sz="1000" dirty="0"/>
          </a:p>
        </p:txBody>
      </p:sp>
      <p:sp>
        <p:nvSpPr>
          <p:cNvPr id="21" name="Text 19"/>
          <p:cNvSpPr/>
          <p:nvPr/>
        </p:nvSpPr>
        <p:spPr>
          <a:xfrm>
            <a:off x="4663440" y="4370832"/>
            <a:ext cx="1874520" cy="384048"/>
          </a:xfrm>
          <a:prstGeom prst="rect">
            <a:avLst/>
          </a:prstGeom>
          <a:noFill/>
          <a:ln/>
        </p:spPr>
        <p:txBody>
          <a:bodyPr wrap="square" rtlCol="0" anchor="ctr"/>
          <a:lstStyle/>
          <a:p>
            <a:pPr algn="ctr" indent="0" marL="0">
              <a:buNone/>
            </a:pPr>
            <a:r>
              <a:rPr lang="en-US" sz="900" dirty="0">
                <a:solidFill>
                  <a:srgbClr val="4A6A48"/>
                </a:solidFill>
              </a:rPr>
              <a:t>La chrononutrition</a:t>
            </a:r>
            <a:endParaRPr lang="en-US" sz="900" dirty="0"/>
          </a:p>
          <a:p>
            <a:pPr algn="ctr" indent="0" marL="0">
              <a:buNone/>
            </a:pPr>
            <a:r>
              <a:rPr lang="en-US" sz="900" dirty="0">
                <a:solidFill>
                  <a:srgbClr val="4A6A48"/>
                </a:solidFill>
              </a:rPr>
              <a:t>et les gestes du repas</a:t>
            </a:r>
            <a:endParaRPr lang="en-US" sz="900" dirty="0"/>
          </a:p>
        </p:txBody>
      </p:sp>
      <p:sp>
        <p:nvSpPr>
          <p:cNvPr id="22" name="Shape 20"/>
          <p:cNvSpPr/>
          <p:nvPr/>
        </p:nvSpPr>
        <p:spPr>
          <a:xfrm>
            <a:off x="6720840" y="3547872"/>
            <a:ext cx="1874520" cy="1298448"/>
          </a:xfrm>
          <a:prstGeom prst="roundRect">
            <a:avLst>
              <a:gd name="adj" fmla="val 5634"/>
            </a:avLst>
          </a:prstGeom>
          <a:solidFill>
            <a:srgbClr val="FFFFFF"/>
          </a:solidFill>
          <a:ln w="10160">
            <a:solidFill>
              <a:srgbClr val="9DC498"/>
            </a:solidFill>
            <a:prstDash val="solid"/>
          </a:ln>
        </p:spPr>
      </p:sp>
      <p:sp>
        <p:nvSpPr>
          <p:cNvPr id="23" name="Text 21"/>
          <p:cNvSpPr/>
          <p:nvPr/>
        </p:nvSpPr>
        <p:spPr>
          <a:xfrm>
            <a:off x="6720840" y="3611880"/>
            <a:ext cx="187452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6720840" y="4087368"/>
            <a:ext cx="1874520" cy="274320"/>
          </a:xfrm>
          <a:prstGeom prst="rect">
            <a:avLst/>
          </a:prstGeom>
          <a:noFill/>
          <a:ln/>
        </p:spPr>
        <p:txBody>
          <a:bodyPr wrap="square" rtlCol="0" anchor="ctr"/>
          <a:lstStyle/>
          <a:p>
            <a:pPr algn="ctr" indent="0" marL="0">
              <a:buNone/>
            </a:pPr>
            <a:r>
              <a:rPr lang="en-US" sz="1000" b="1" dirty="0">
                <a:solidFill>
                  <a:srgbClr val="2D5A27"/>
                </a:solidFill>
              </a:rPr>
              <a:t>Bilan 30 jours</a:t>
            </a:r>
            <a:endParaRPr lang="en-US" sz="1000" dirty="0"/>
          </a:p>
        </p:txBody>
      </p:sp>
      <p:sp>
        <p:nvSpPr>
          <p:cNvPr id="25" name="Text 23"/>
          <p:cNvSpPr/>
          <p:nvPr/>
        </p:nvSpPr>
        <p:spPr>
          <a:xfrm>
            <a:off x="6720840" y="4370832"/>
            <a:ext cx="1874520" cy="384048"/>
          </a:xfrm>
          <a:prstGeom prst="rect">
            <a:avLst/>
          </a:prstGeom>
          <a:noFill/>
          <a:ln/>
        </p:spPr>
        <p:txBody>
          <a:bodyPr wrap="square" rtlCol="0" anchor="ctr"/>
          <a:lstStyle/>
          <a:p>
            <a:pPr algn="ctr" indent="0" marL="0">
              <a:buNone/>
            </a:pPr>
            <a:r>
              <a:rPr lang="en-US" sz="900" dirty="0">
                <a:solidFill>
                  <a:srgbClr val="4A6A48"/>
                </a:solidFill>
              </a:rPr>
              <a:t>Évaluer son terrain</a:t>
            </a:r>
            <a:endParaRPr lang="en-US" sz="900" dirty="0"/>
          </a:p>
          <a:p>
            <a:pPr algn="ctr" indent="0" marL="0">
              <a:buNone/>
            </a:pPr>
            <a:r>
              <a:rPr lang="en-US" sz="900" dirty="0">
                <a:solidFill>
                  <a:srgbClr val="4A6A48"/>
                </a:solidFill>
              </a:rPr>
              <a:t>et la suite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DF8"/>
        </a:solidFill>
      </p:bgPr>
    </p:bg>
    <p:spTree>
      <p:nvGrpSpPr>
        <p:cNvPr id="1" name=""/>
        <p:cNvGrpSpPr/>
        <p:nvPr/>
      </p:nvGrpSpPr>
      <p:grpSpPr>
        <a:xfrm>
          <a:off x="0" y="0"/>
          <a:ext cx="0" cy="0"/>
          <a:chOff x="0" y="0"/>
          <a:chExt cx="0" cy="0"/>
        </a:xfrm>
      </p:grpSpPr>
      <p:sp>
        <p:nvSpPr>
          <p:cNvPr id="2" name="Text 0"/>
          <p:cNvSpPr/>
          <p:nvPr/>
        </p:nvSpPr>
        <p:spPr>
          <a:xfrm>
            <a:off x="274320" y="73152"/>
            <a:ext cx="6400800" cy="182880"/>
          </a:xfrm>
          <a:prstGeom prst="rect">
            <a:avLst/>
          </a:prstGeom>
          <a:noFill/>
          <a:ln/>
        </p:spPr>
        <p:txBody>
          <a:bodyPr wrap="square" rtlCol="0" anchor="ctr"/>
          <a:lstStyle/>
          <a:p>
            <a:pPr indent="0" marL="0">
              <a:buNone/>
            </a:pPr>
            <a:r>
              <a:rPr lang="en-US" sz="700" dirty="0">
                <a:solidFill>
                  <a:srgbClr val="2D5A27">
                    <a:alpha val="65000"/>
                  </a:srgbClr>
                </a:solidFill>
              </a:rPr>
              <a:t>CONSEIL2NATURO · DOCUMENT BONUS</a:t>
            </a:r>
            <a:endParaRPr lang="en-US" sz="700" dirty="0"/>
          </a:p>
        </p:txBody>
      </p:sp>
      <p:sp>
        <p:nvSpPr>
          <p:cNvPr id="3" name="Shape 1"/>
          <p:cNvSpPr/>
          <p:nvPr/>
        </p:nvSpPr>
        <p:spPr>
          <a:xfrm>
            <a:off x="7315200" y="91440"/>
            <a:ext cx="1554480" cy="256032"/>
          </a:xfrm>
          <a:prstGeom prst="roundRect">
            <a:avLst>
              <a:gd name="adj" fmla="val 17857"/>
            </a:avLst>
          </a:prstGeom>
          <a:solidFill>
            <a:srgbClr val="E8C040">
              <a:alpha val="50000"/>
            </a:srgbClr>
          </a:solidFill>
          <a:ln w="7620">
            <a:solidFill>
              <a:srgbClr val="B8860B"/>
            </a:solidFill>
            <a:prstDash val="solid"/>
          </a:ln>
        </p:spPr>
      </p:sp>
      <p:sp>
        <p:nvSpPr>
          <p:cNvPr id="4" name="Text 2"/>
          <p:cNvSpPr/>
          <p:nvPr/>
        </p:nvSpPr>
        <p:spPr>
          <a:xfrm>
            <a:off x="7315200" y="91440"/>
            <a:ext cx="1554480" cy="256032"/>
          </a:xfrm>
          <a:prstGeom prst="rect">
            <a:avLst/>
          </a:prstGeom>
          <a:noFill/>
          <a:ln/>
        </p:spPr>
        <p:txBody>
          <a:bodyPr wrap="square" rtlCol="0" anchor="ctr"/>
          <a:lstStyle/>
          <a:p>
            <a:pPr algn="ctr" indent="0" marL="0">
              <a:buNone/>
            </a:pPr>
            <a:r>
              <a:rPr lang="en-US" sz="700" b="1" dirty="0">
                <a:solidFill>
                  <a:srgbClr val="2D5A27"/>
                </a:solidFill>
              </a:rPr>
              <a:t>CONCLUSION</a:t>
            </a:r>
            <a:endParaRPr lang="en-US" sz="700" dirty="0"/>
          </a:p>
        </p:txBody>
      </p:sp>
      <p:sp>
        <p:nvSpPr>
          <p:cNvPr id="5" name="Text 3"/>
          <p:cNvSpPr/>
          <p:nvPr/>
        </p:nvSpPr>
        <p:spPr>
          <a:xfrm>
            <a:off x="7772400" y="4846320"/>
            <a:ext cx="1097280" cy="182880"/>
          </a:xfrm>
          <a:prstGeom prst="rect">
            <a:avLst/>
          </a:prstGeom>
          <a:noFill/>
          <a:ln/>
        </p:spPr>
        <p:txBody>
          <a:bodyPr wrap="square" rtlCol="0" anchor="ctr"/>
          <a:lstStyle/>
          <a:p>
            <a:pPr algn="r" indent="0" marL="0">
              <a:buNone/>
            </a:pPr>
            <a:r>
              <a:rPr lang="en-US" sz="800" dirty="0">
                <a:solidFill>
                  <a:srgbClr val="2D5A27">
                    <a:alpha val="60000"/>
                  </a:srgbClr>
                </a:solidFill>
              </a:rPr>
              <a:t>10 / 10</a:t>
            </a:r>
            <a:endParaRPr lang="en-US" sz="800" dirty="0"/>
          </a:p>
        </p:txBody>
      </p:sp>
      <p:sp>
        <p:nvSpPr>
          <p:cNvPr id="6" name="Text 4"/>
          <p:cNvSpPr/>
          <p:nvPr/>
        </p:nvSpPr>
        <p:spPr>
          <a:xfrm>
            <a:off x="457200" y="201168"/>
            <a:ext cx="8229600" cy="502920"/>
          </a:xfrm>
          <a:prstGeom prst="rect">
            <a:avLst/>
          </a:prstGeom>
          <a:noFill/>
          <a:ln/>
        </p:spPr>
        <p:txBody>
          <a:bodyPr wrap="square" rtlCol="0" anchor="ctr"/>
          <a:lstStyle/>
          <a:p>
            <a:pPr algn="ctr" indent="0" marL="0">
              <a:buNone/>
            </a:pPr>
            <a:r>
              <a:rPr lang="en-US" sz="2800" b="1" dirty="0">
                <a:solidFill>
                  <a:srgbClr val="1A3A18"/>
                </a:solidFill>
                <a:latin typeface="Georgia" pitchFamily="34" charset="0"/>
                <a:ea typeface="Georgia" pitchFamily="34" charset="-122"/>
                <a:cs typeface="Georgia" pitchFamily="34" charset="-120"/>
              </a:rPr>
              <a:t>Ton document bonus</a:t>
            </a:r>
            <a:endParaRPr lang="en-US" sz="2800" dirty="0"/>
          </a:p>
        </p:txBody>
      </p:sp>
      <p:sp>
        <p:nvSpPr>
          <p:cNvPr id="7" name="Shape 5"/>
          <p:cNvSpPr/>
          <p:nvPr/>
        </p:nvSpPr>
        <p:spPr>
          <a:xfrm>
            <a:off x="4297680" y="822960"/>
            <a:ext cx="548640" cy="36576"/>
          </a:xfrm>
          <a:prstGeom prst="rect">
            <a:avLst/>
          </a:prstGeom>
          <a:solidFill>
            <a:srgbClr val="B8860B"/>
          </a:solidFill>
          <a:ln w="12700">
            <a:solidFill>
              <a:srgbClr val="B8860B"/>
            </a:solidFill>
            <a:prstDash val="solid"/>
          </a:ln>
        </p:spPr>
      </p:sp>
      <p:sp>
        <p:nvSpPr>
          <p:cNvPr id="8" name="Shape 6"/>
          <p:cNvSpPr/>
          <p:nvPr/>
        </p:nvSpPr>
        <p:spPr>
          <a:xfrm>
            <a:off x="457200" y="987552"/>
            <a:ext cx="8229600" cy="3675888"/>
          </a:xfrm>
          <a:prstGeom prst="rect">
            <a:avLst/>
          </a:prstGeom>
          <a:solidFill>
            <a:srgbClr val="FFFFFF"/>
          </a:solidFill>
          <a:ln w="12700">
            <a:solidFill>
              <a:srgbClr val="9DC498"/>
            </a:solidFill>
            <a:prstDash val="solid"/>
          </a:ln>
        </p:spPr>
      </p:sp>
      <p:sp>
        <p:nvSpPr>
          <p:cNvPr id="9" name="Shape 7"/>
          <p:cNvSpPr/>
          <p:nvPr/>
        </p:nvSpPr>
        <p:spPr>
          <a:xfrm>
            <a:off x="457200" y="987552"/>
            <a:ext cx="8229600" cy="475488"/>
          </a:xfrm>
          <a:prstGeom prst="rect">
            <a:avLst/>
          </a:prstGeom>
          <a:solidFill>
            <a:srgbClr val="2D5A27"/>
          </a:solidFill>
          <a:ln w="10160">
            <a:solidFill>
              <a:srgbClr val="2D5A27"/>
            </a:solidFill>
            <a:prstDash val="solid"/>
          </a:ln>
        </p:spPr>
      </p:sp>
      <p:sp>
        <p:nvSpPr>
          <p:cNvPr id="10" name="Text 8"/>
          <p:cNvSpPr/>
          <p:nvPr/>
        </p:nvSpPr>
        <p:spPr>
          <a:xfrm>
            <a:off x="640080" y="1033272"/>
            <a:ext cx="7863840" cy="384048"/>
          </a:xfrm>
          <a:prstGeom prst="rect">
            <a:avLst/>
          </a:prstGeom>
          <a:noFill/>
          <a:ln/>
        </p:spPr>
        <p:txBody>
          <a:bodyPr wrap="square" rtlCol="0" anchor="ctr"/>
          <a:lstStyle/>
          <a:p>
            <a:pPr indent="0" marL="0">
              <a:buNone/>
            </a:pPr>
            <a:r>
              <a:rPr lang="en-US" sz="1300" b="1" dirty="0">
                <a:solidFill>
                  <a:srgbClr val="FFFFFF"/>
                </a:solidFill>
              </a:rPr>
              <a:t>📋  "Mon repas en pleine conscience + Stimuler mon nerf vague"</a:t>
            </a:r>
            <a:endParaRPr lang="en-US" sz="1300" dirty="0"/>
          </a:p>
        </p:txBody>
      </p:sp>
      <p:sp>
        <p:nvSpPr>
          <p:cNvPr id="11" name="Shape 9"/>
          <p:cNvSpPr/>
          <p:nvPr/>
        </p:nvSpPr>
        <p:spPr>
          <a:xfrm>
            <a:off x="658368" y="1737360"/>
            <a:ext cx="384048" cy="384048"/>
          </a:xfrm>
          <a:prstGeom prst="ellipse">
            <a:avLst/>
          </a:prstGeom>
          <a:solidFill>
            <a:srgbClr val="B8860B"/>
          </a:solidFill>
          <a:ln w="12700">
            <a:solidFill>
              <a:srgbClr val="B8860B"/>
            </a:solidFill>
            <a:prstDash val="solid"/>
          </a:ln>
        </p:spPr>
      </p:sp>
      <p:sp>
        <p:nvSpPr>
          <p:cNvPr id="12" name="Text 10"/>
          <p:cNvSpPr/>
          <p:nvPr/>
        </p:nvSpPr>
        <p:spPr>
          <a:xfrm>
            <a:off x="658368" y="1737360"/>
            <a:ext cx="384048" cy="384048"/>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3" name="Text 11"/>
          <p:cNvSpPr/>
          <p:nvPr/>
        </p:nvSpPr>
        <p:spPr>
          <a:xfrm>
            <a:off x="1188720" y="1719072"/>
            <a:ext cx="7315200" cy="347472"/>
          </a:xfrm>
          <a:prstGeom prst="rect">
            <a:avLst/>
          </a:prstGeom>
          <a:noFill/>
          <a:ln/>
        </p:spPr>
        <p:txBody>
          <a:bodyPr wrap="square" rtlCol="0" anchor="ctr"/>
          <a:lstStyle/>
          <a:p>
            <a:pPr indent="0" marL="0">
              <a:buNone/>
            </a:pPr>
            <a:r>
              <a:rPr lang="en-US" sz="1200" b="1" dirty="0">
                <a:solidFill>
                  <a:srgbClr val="2D5A27"/>
                </a:solidFill>
              </a:rPr>
              <a:t>La checklist du repas conscient</a:t>
            </a:r>
            <a:endParaRPr lang="en-US" sz="1200" dirty="0"/>
          </a:p>
        </p:txBody>
      </p:sp>
      <p:sp>
        <p:nvSpPr>
          <p:cNvPr id="14" name="Text 12"/>
          <p:cNvSpPr/>
          <p:nvPr/>
        </p:nvSpPr>
        <p:spPr>
          <a:xfrm>
            <a:off x="1188720" y="2084832"/>
            <a:ext cx="7315200" cy="292608"/>
          </a:xfrm>
          <a:prstGeom prst="rect">
            <a:avLst/>
          </a:prstGeom>
          <a:noFill/>
          <a:ln/>
        </p:spPr>
        <p:txBody>
          <a:bodyPr wrap="square" rtlCol="0" anchor="ctr"/>
          <a:lstStyle/>
          <a:p>
            <a:pPr indent="0" marL="0">
              <a:buNone/>
            </a:pPr>
            <a:r>
              <a:rPr lang="en-US" sz="1050" dirty="0">
                <a:solidFill>
                  <a:srgbClr val="4A6A48"/>
                </a:solidFill>
              </a:rPr>
              <a:t>Les 5 gestes à cocher avant et pendant chaque repas — pour en faire une habitude en 21 jours</a:t>
            </a:r>
            <a:endParaRPr lang="en-US" sz="1050" dirty="0"/>
          </a:p>
        </p:txBody>
      </p:sp>
      <p:sp>
        <p:nvSpPr>
          <p:cNvPr id="15" name="Shape 13"/>
          <p:cNvSpPr/>
          <p:nvPr/>
        </p:nvSpPr>
        <p:spPr>
          <a:xfrm>
            <a:off x="640080" y="2487168"/>
            <a:ext cx="7863840" cy="13716"/>
          </a:xfrm>
          <a:prstGeom prst="rect">
            <a:avLst/>
          </a:prstGeom>
          <a:solidFill>
            <a:srgbClr val="D4EAD0"/>
          </a:solidFill>
          <a:ln w="12700">
            <a:solidFill>
              <a:srgbClr val="D4EAD0"/>
            </a:solidFill>
            <a:prstDash val="solid"/>
          </a:ln>
        </p:spPr>
      </p:sp>
      <p:sp>
        <p:nvSpPr>
          <p:cNvPr id="16" name="Shape 14"/>
          <p:cNvSpPr/>
          <p:nvPr/>
        </p:nvSpPr>
        <p:spPr>
          <a:xfrm>
            <a:off x="658368" y="2697480"/>
            <a:ext cx="384048" cy="384048"/>
          </a:xfrm>
          <a:prstGeom prst="ellipse">
            <a:avLst/>
          </a:prstGeom>
          <a:solidFill>
            <a:srgbClr val="B8860B"/>
          </a:solidFill>
          <a:ln w="12700">
            <a:solidFill>
              <a:srgbClr val="B8860B"/>
            </a:solidFill>
            <a:prstDash val="solid"/>
          </a:ln>
        </p:spPr>
      </p:sp>
      <p:sp>
        <p:nvSpPr>
          <p:cNvPr id="17" name="Text 15"/>
          <p:cNvSpPr/>
          <p:nvPr/>
        </p:nvSpPr>
        <p:spPr>
          <a:xfrm>
            <a:off x="658368" y="2697480"/>
            <a:ext cx="384048" cy="384048"/>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18" name="Text 16"/>
          <p:cNvSpPr/>
          <p:nvPr/>
        </p:nvSpPr>
        <p:spPr>
          <a:xfrm>
            <a:off x="1188720" y="2679192"/>
            <a:ext cx="7315200" cy="347472"/>
          </a:xfrm>
          <a:prstGeom prst="rect">
            <a:avLst/>
          </a:prstGeom>
          <a:noFill/>
          <a:ln/>
        </p:spPr>
        <p:txBody>
          <a:bodyPr wrap="square" rtlCol="0" anchor="ctr"/>
          <a:lstStyle/>
          <a:p>
            <a:pPr indent="0" marL="0">
              <a:buNone/>
            </a:pPr>
            <a:r>
              <a:rPr lang="en-US" sz="1200" b="1" dirty="0">
                <a:solidFill>
                  <a:srgbClr val="2D5A27"/>
                </a:solidFill>
              </a:rPr>
              <a:t>Les exercices de nerf vague</a:t>
            </a:r>
            <a:endParaRPr lang="en-US" sz="1200" dirty="0"/>
          </a:p>
        </p:txBody>
      </p:sp>
      <p:sp>
        <p:nvSpPr>
          <p:cNvPr id="19" name="Text 17"/>
          <p:cNvSpPr/>
          <p:nvPr/>
        </p:nvSpPr>
        <p:spPr>
          <a:xfrm>
            <a:off x="1188720" y="3044952"/>
            <a:ext cx="7315200" cy="292608"/>
          </a:xfrm>
          <a:prstGeom prst="rect">
            <a:avLst/>
          </a:prstGeom>
          <a:noFill/>
          <a:ln/>
        </p:spPr>
        <p:txBody>
          <a:bodyPr wrap="square" rtlCol="0" anchor="ctr"/>
          <a:lstStyle/>
          <a:p>
            <a:pPr indent="0" marL="0">
              <a:buNone/>
            </a:pPr>
            <a:r>
              <a:rPr lang="en-US" sz="1050" dirty="0">
                <a:solidFill>
                  <a:srgbClr val="4A6A48"/>
                </a:solidFill>
              </a:rPr>
              <a:t>5 pratiques simples à intégrer au quotidien — cohérence cardiaque, respiration, exercices corporels</a:t>
            </a:r>
            <a:endParaRPr lang="en-US" sz="1050" dirty="0"/>
          </a:p>
        </p:txBody>
      </p:sp>
      <p:sp>
        <p:nvSpPr>
          <p:cNvPr id="20" name="Shape 18"/>
          <p:cNvSpPr/>
          <p:nvPr/>
        </p:nvSpPr>
        <p:spPr>
          <a:xfrm>
            <a:off x="640080" y="3447288"/>
            <a:ext cx="7863840" cy="13716"/>
          </a:xfrm>
          <a:prstGeom prst="rect">
            <a:avLst/>
          </a:prstGeom>
          <a:solidFill>
            <a:srgbClr val="D4EAD0"/>
          </a:solidFill>
          <a:ln w="12700">
            <a:solidFill>
              <a:srgbClr val="D4EAD0"/>
            </a:solidFill>
            <a:prstDash val="solid"/>
          </a:ln>
        </p:spPr>
      </p:sp>
      <p:sp>
        <p:nvSpPr>
          <p:cNvPr id="21" name="Shape 19"/>
          <p:cNvSpPr/>
          <p:nvPr/>
        </p:nvSpPr>
        <p:spPr>
          <a:xfrm>
            <a:off x="658368" y="3657600"/>
            <a:ext cx="384048" cy="384048"/>
          </a:xfrm>
          <a:prstGeom prst="ellipse">
            <a:avLst/>
          </a:prstGeom>
          <a:solidFill>
            <a:srgbClr val="B8860B"/>
          </a:solidFill>
          <a:ln w="12700">
            <a:solidFill>
              <a:srgbClr val="B8860B"/>
            </a:solidFill>
            <a:prstDash val="solid"/>
          </a:ln>
        </p:spPr>
      </p:sp>
      <p:sp>
        <p:nvSpPr>
          <p:cNvPr id="22" name="Text 20"/>
          <p:cNvSpPr/>
          <p:nvPr/>
        </p:nvSpPr>
        <p:spPr>
          <a:xfrm>
            <a:off x="658368" y="3657600"/>
            <a:ext cx="384048" cy="384048"/>
          </a:xfrm>
          <a:prstGeom prst="rect">
            <a:avLst/>
          </a:prstGeom>
          <a:noFill/>
          <a:ln/>
        </p:spPr>
        <p:txBody>
          <a:bodyPr wrap="square" rtlCol="0" anchor="ctr"/>
          <a:lstStyle/>
          <a:p>
            <a:pPr algn="ctr" indent="0" marL="0">
              <a:buNone/>
            </a:pPr>
            <a:r>
              <a:rPr lang="en-US" sz="1400" dirty="0">
                <a:solidFill>
                  <a:srgbClr val="000000"/>
                </a:solidFill>
              </a:rPr>
              <a:t>📊</a:t>
            </a:r>
            <a:endParaRPr lang="en-US" sz="1400" dirty="0"/>
          </a:p>
        </p:txBody>
      </p:sp>
      <p:sp>
        <p:nvSpPr>
          <p:cNvPr id="23" name="Text 21"/>
          <p:cNvSpPr/>
          <p:nvPr/>
        </p:nvSpPr>
        <p:spPr>
          <a:xfrm>
            <a:off x="1188720" y="3639312"/>
            <a:ext cx="7315200" cy="347472"/>
          </a:xfrm>
          <a:prstGeom prst="rect">
            <a:avLst/>
          </a:prstGeom>
          <a:noFill/>
          <a:ln/>
        </p:spPr>
        <p:txBody>
          <a:bodyPr wrap="square" rtlCol="0" anchor="ctr"/>
          <a:lstStyle/>
          <a:p>
            <a:pPr indent="0" marL="0">
              <a:buNone/>
            </a:pPr>
            <a:r>
              <a:rPr lang="en-US" sz="1200" b="1" dirty="0">
                <a:solidFill>
                  <a:srgbClr val="2D5A27"/>
                </a:solidFill>
              </a:rPr>
              <a:t>Mon journal de suivi sur 3 semaines</a:t>
            </a:r>
            <a:endParaRPr lang="en-US" sz="1200" dirty="0"/>
          </a:p>
        </p:txBody>
      </p:sp>
      <p:sp>
        <p:nvSpPr>
          <p:cNvPr id="24" name="Text 22"/>
          <p:cNvSpPr/>
          <p:nvPr/>
        </p:nvSpPr>
        <p:spPr>
          <a:xfrm>
            <a:off x="1188720" y="4005072"/>
            <a:ext cx="7315200" cy="292608"/>
          </a:xfrm>
          <a:prstGeom prst="rect">
            <a:avLst/>
          </a:prstGeom>
          <a:noFill/>
          <a:ln/>
        </p:spPr>
        <p:txBody>
          <a:bodyPr wrap="square" rtlCol="0" anchor="ctr"/>
          <a:lstStyle/>
          <a:p>
            <a:pPr indent="0" marL="0">
              <a:buNone/>
            </a:pPr>
            <a:r>
              <a:rPr lang="en-US" sz="1050" dirty="0">
                <a:solidFill>
                  <a:srgbClr val="4A6A48"/>
                </a:solidFill>
              </a:rPr>
              <a:t>Observer l'évolution de ta digestion, ton énergie et ton bien-être semaine après semaine</a:t>
            </a:r>
            <a:endParaRPr lang="en-US" sz="1050" dirty="0"/>
          </a:p>
        </p:txBody>
      </p:sp>
      <p:sp>
        <p:nvSpPr>
          <p:cNvPr id="25" name="Shape 23"/>
          <p:cNvSpPr/>
          <p:nvPr/>
        </p:nvSpPr>
        <p:spPr>
          <a:xfrm>
            <a:off x="457200" y="4645152"/>
            <a:ext cx="8229600" cy="292608"/>
          </a:xfrm>
          <a:prstGeom prst="rect">
            <a:avLst/>
          </a:prstGeom>
          <a:solidFill>
            <a:srgbClr val="2D5A27"/>
          </a:solidFill>
          <a:ln w="10160">
            <a:solidFill>
              <a:srgbClr val="2D5A27"/>
            </a:solidFill>
            <a:prstDash val="solid"/>
          </a:ln>
        </p:spPr>
      </p:sp>
      <p:sp>
        <p:nvSpPr>
          <p:cNvPr id="26" name="Text 24"/>
          <p:cNvSpPr/>
          <p:nvPr/>
        </p:nvSpPr>
        <p:spPr>
          <a:xfrm>
            <a:off x="457200" y="4663440"/>
            <a:ext cx="8229600" cy="256032"/>
          </a:xfrm>
          <a:prstGeom prst="rect">
            <a:avLst/>
          </a:prstGeom>
          <a:noFill/>
          <a:ln/>
        </p:spPr>
        <p:txBody>
          <a:bodyPr wrap="square" rtlCol="0" anchor="ctr"/>
          <a:lstStyle/>
          <a:p>
            <a:pPr algn="ctr" indent="0" marL="0">
              <a:buNone/>
            </a:pPr>
            <a:r>
              <a:rPr lang="en-US" sz="950" dirty="0">
                <a:solidFill>
                  <a:srgbClr val="FFFFFF"/>
                </a:solidFill>
              </a:rPr>
              <a:t>Télécharge juste en dessous · Questions dans la communauté · Je réponds chaque semaine 🌿</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 L'art de passer à table</dc:title>
  <dc:subject>PptxGenJS Presentation</dc:subject>
  <dc:creator>PptxGenJS</dc:creator>
  <cp:lastModifiedBy>PptxGenJS</cp:lastModifiedBy>
  <cp:revision>1</cp:revision>
  <dcterms:created xsi:type="dcterms:W3CDTF">2026-04-14T12:14:55Z</dcterms:created>
  <dcterms:modified xsi:type="dcterms:W3CDTF">2026-04-14T12:14:55Z</dcterms:modified>
</cp:coreProperties>
</file>