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MODULE 3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INTRO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1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685800"/>
            <a:ext cx="7315200" cy="3520440"/>
          </a:xfrm>
          <a:prstGeom prst="rect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566928"/>
            <a:ext cx="1737360" cy="274320"/>
          </a:xfrm>
          <a:prstGeom prst="roundRect">
            <a:avLst>
              <a:gd name="adj" fmla="val 33333"/>
            </a:avLst>
          </a:prstGeom>
          <a:solidFill>
            <a:srgbClr val="E8C040">
              <a:alpha val="60000"/>
            </a:srgbClr>
          </a:solidFill>
          <a:ln w="1016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566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5A27"/>
                </a:solidFill>
              </a:rPr>
              <a:t>MODULE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96012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15 aliments phares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158191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anti-inflammatoires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60520" y="2331720"/>
            <a:ext cx="822960" cy="36576"/>
          </a:xfrm>
          <a:prstGeom prst="rect">
            <a:avLst/>
          </a:prstGeom>
          <a:solidFill>
            <a:srgbClr val="E8C040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48716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C498"/>
                </a:solidFill>
              </a:rPr>
              <a:t>Ceux que je recommande à toutes mes clientes.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DC498"/>
                </a:solidFill>
              </a:rPr>
              <a:t>Documentés scientifiquement. Faciles à intégrer au quotidien.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777240" cy="5143500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0"/>
            <a:ext cx="777240" cy="5143500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LES 5 FAMILLES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2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familles · 15 aliments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0" y="749808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8595360" cy="713232"/>
          </a:xfrm>
          <a:prstGeom prst="rect">
            <a:avLst/>
          </a:prstGeom>
          <a:solidFill>
            <a:srgbClr val="D4EAD0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15568"/>
            <a:ext cx="457200" cy="457200"/>
          </a:xfrm>
          <a:prstGeom prst="ellipse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0607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Gras anti-inflammatoires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389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Sardines · Noix de Grenoble · Huile d'olive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FFF8E8"/>
          </a:solidFill>
          <a:ln w="10160">
            <a:solidFill>
              <a:srgbClr val="B886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38528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18836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Champions des antioxydants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2128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Myrtilles · Curcuma · Brocoli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8595360" cy="713232"/>
          </a:xfrm>
          <a:prstGeom prst="rect">
            <a:avLst/>
          </a:prstGeom>
          <a:solidFill>
            <a:srgbClr val="D4EAD0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61488"/>
            <a:ext cx="457200" cy="457200"/>
          </a:xfrm>
          <a:prstGeom prst="ellipse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27066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Alliés du microbiote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3035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Lentilles · Kéfir · Ail &amp; Oignon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713232"/>
          </a:xfrm>
          <a:prstGeom prst="rect">
            <a:avLst/>
          </a:prstGeom>
          <a:solidFill>
            <a:srgbClr val="FFF8E8"/>
          </a:solidFill>
          <a:ln w="1016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84448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3529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Régulateurs de l'inflammation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3858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Gingembre · Thé vert · Chocolat noir +70%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79392"/>
            <a:ext cx="8595360" cy="713232"/>
          </a:xfrm>
          <a:prstGeom prst="rect">
            <a:avLst/>
          </a:prstGeom>
          <a:solidFill>
            <a:srgbClr val="D4EAD0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407408"/>
            <a:ext cx="457200" cy="457200"/>
          </a:xfrm>
          <a:prstGeom prst="ellipse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43525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Boosters souvent oubliés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4681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Œufs plein air · Graines de lin · Épinards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FAMILLE 1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FAMILLE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3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64592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gras anti-inflammatoires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527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1005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12161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Sardines &amp; Maquereau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155448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2,5g d'oméga-3 EPA/DHA pour 100g de maquereau. Formes actives directement utilisables par le corps. Petits poissons = peu de métaux lourds. Boîtes ok (huile d'olive). 2-3x/semaine.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12471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Étude British Journal of Nutrition : 8 semaines suffisent pour réduire les marqueurs inflammatoires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13432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2359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5694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Noix de Grenoble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9077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Seul oléagineux vraiment riche en oméga-3. + Polyphénols + Magnésium + Vitamine E. 30g/jour (5-7 noix). Garder au frigo — rancissent vite à l'air.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04872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47802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Attention : les noix rancies deviennent pro-inflammatoires. Toujours fraîches !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66744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593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" y="37124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922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Huile d'olive extra vierge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2611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Contient l'oléocanthal — anti-inflammatoire naturel aux effets similaires à certains médicaments, sans les effets secondaires. + Hydroxytyrosol antioxydant.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3758184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83133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Règle : extra vierge uniquement. Crue ou cuisson douce max. L'huile raffinée ne contient plus ces polyphénols.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FAMILLE 2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FAMILLE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4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64592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champions des antioxydants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502920" cy="120700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527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1005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12161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Les myrtilles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155448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Anthocyanes = pigments bleus-violets = anti-inflammatoires puissants. Protègent les cellules, améliorent la circulation, effets sur mémoire et cerveau. Surgelées = aussi efficaces que fraîches.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3200400" cy="102412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12471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Une poignée/jour dans un yaourt, smoothie ou porridge. Achetez en grand sachet surgelé — économique et pratique.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13432"/>
            <a:ext cx="502920" cy="120700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2359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5694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 curcuma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9077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Curcumine = anti-inflammatoire reconnu par l'EFSA. Effets comparés à certains médicaments sans effets secondaires. MAIS : très mal absorbé seul.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04872"/>
            <a:ext cx="3200400" cy="102412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47802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RÈGLE ABSOLUE : toujours curcuma + poivre noir + gras ensemble. Le poivre noir × 20 l'absorption. Sans ça = presque aucun effet.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66744"/>
            <a:ext cx="502920" cy="120700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593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🥦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" y="37124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922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 brocoli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2611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Sulforaphane = active les mécanismes naturels de détoxification du corps. Effets anti-inflammatoires directs. Très riche en vitamines C, K et folate.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3758184"/>
            <a:ext cx="3200400" cy="102412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83133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Cuisson vapeur 5-6 min al dente. Cuisson longue = sulforaphane détruit. Les pousses de brocoli : 50x plus de sulforaphane 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FAMILLE 3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FAMILLE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5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64592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alliés du microbiote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527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1005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12161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Les lentilles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155448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9g protéines + 8g fibres pour 100g cuit. Fibres fermentées = beaucoup de butyrate = paroi intestinale réparée. + Fer, magnésium, folate, zinc. L'aliment anti-inflam le plus complet et accessible.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12471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Lentilles corail : 15 min sans trempage. Ballonnements ? Trempe les lentilles vertes et jette l'eau. Microbiote s'adapte en 3-4 semaines.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13432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2359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5694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 kéfir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9077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Dizaines de souches de bactéries et levures bénéfiques. Renforce directement le microbiote. Produit vitamines B et K. Réduit les marqueurs inflammatoires en 4 semaines.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04872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47802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Kéfir de lait ou kéfir d'eau (pour les intolérantes au lactose). Les deux fonctionnent. Commence par 1 verre/jour.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66744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593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" y="37124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922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L'ail &amp; l'oignon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2611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Prébiotiques naturels (inuline) — nourrissent les meilleures bactéries. L'ail : allicine antibactérienne et anti-inflammatoire. Se forme uniquement quand on écrase/hache l'ail frais.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3758184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83133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Hache l'ail frais et laisse 10 min avant cuisson (active l'allicine). Ou cru en vinaigrette. L'oignon rouge cru est le plus puissant.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FAMILLE 4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FAMILLE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6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64592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régulateurs de l'inflammation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502920" cy="120700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527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1005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12161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 gingembre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155448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Gingérol = réduit les cytokines pro-inflammatoires. Soulage douleurs articulaires. Stimule enzymes digestives. Excellent pour la digestion et les nausées.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3200400" cy="102412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12471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Gingembre frais &gt; poudre (plus concentré en gingérol). Infusion gingembre+citron+miel le matin. Râpé dans un plat sauté ou smoothie.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13432"/>
            <a:ext cx="502920" cy="120700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2359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5694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 thé vert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9077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Catéchines (EGCG) = anti-inflammatoires et antioxydants très documentés. Inhibent certaines voies inflammatoires. Protègent les cellules du stress oxydatif.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04872"/>
            <a:ext cx="3200400" cy="102412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47802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Eau à 80°C max (pas bouillante — détruit les catéchines). 2-3 min d'infusion. 2 tasses/jour — matin et après-midi.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66744"/>
            <a:ext cx="502920" cy="120700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593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🍫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" y="37124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922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Chocolat noir +70%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2611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Flavonoïdes = effets cardiovasculaires et anti-inflammatoires documentés. Améliore la circulation. Effets positifs sur le microbiote. Ce n'est pas une dérogation — c'est un aliment santé.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3758184"/>
            <a:ext cx="3200400" cy="1024128"/>
          </a:xfrm>
          <a:prstGeom prst="rect">
            <a:avLst/>
          </a:prstGeom>
          <a:solidFill>
            <a:srgbClr val="FFF8E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83133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Minimum 70% de cacao. En dessous : trop de sucre qui compense les bienfaits. 1-2 carrés/jour. Vrai plaisir, pas compensation.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FAMILLE 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FAMILLE 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7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64592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boosters souvent oubliés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527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1005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13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12161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Les œufs plein air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155448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Protéine complète (tous les acides aminés). Choline pour le cerveau. Vitamines D, B12, sélénium, lutéine. 3× plus d'oméga-3 qu'un œuf de batterie. Le jaune est le plus précieux — ne le supprime pas.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12471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Le cholestérol alimentaire a peu d'impact sur le cholestérol sanguin chez la plupart des personnes. Information dépassée. Mange le jaune !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13432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2359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5694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Les graines de lin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9077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Source végétale riche en oméga-3. Lignanes = phyto-estrogènes (intéressants en péri/ménopause). Fibres solubles pour le microbiote.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04872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47802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RÈGLE ABSOLUE : doivent être moulues. Entières = traversent sans être digérées = 0 bienfait. Moudre au café ou acheter farine de lin. Frigo !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66744"/>
            <a:ext cx="502920" cy="1207008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593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🥬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" y="37124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</a:rPr>
              <a:t>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922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Les épinards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2611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48"/>
                </a:solidFill>
              </a:rPr>
              <a:t>Magnésium ++ (stress + inflammation). Fer, folate, vitamine K, vitamine C. Effet alcalinisant qui contrebalance l'acidité de l'alimentation industrielle. Petit bonus d'oméga-3 végétaux.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3758184"/>
            <a:ext cx="3200400" cy="1024128"/>
          </a:xfrm>
          <a:prstGeom prst="rect">
            <a:avLst/>
          </a:prstGeom>
          <a:solidFill>
            <a:srgbClr val="D4EAD0"/>
          </a:solidFill>
          <a:ln w="6350">
            <a:solidFill>
              <a:srgbClr val="9DC4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83133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27"/>
                </a:solidFill>
              </a:rPr>
              <a:t>💡 Dans un smoothie avec des fruits — tu ne les goûtes presque pas. Dans une omelette. En salade avec huile d'olive + citron. Cuisson vapeur rapide.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COMMENT INTÉGRER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8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les intégrer — sans se prendre la tête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8595360" cy="530352"/>
          </a:xfrm>
          <a:prstGeom prst="rect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C040"/>
                </a:solidFill>
              </a:rPr>
              <a:t>Ne cherche pas à tous les intégrer en même temps. 2-3 aliments par semaine. Puis les suivants.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8595360" cy="685800"/>
          </a:xfrm>
          <a:prstGeom prst="rect">
            <a:avLst/>
          </a:prstGeom>
          <a:solidFill>
            <a:srgbClr val="D4EAD0"/>
          </a:solidFill>
          <a:ln w="7620">
            <a:solidFill>
              <a:srgbClr val="9DC4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3736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Semaine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0" y="17922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Sardines 2×/semaine · Myrtilles chaque jour · Curcuma + poivre + gras dans les plats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32304"/>
            <a:ext cx="8595360" cy="685800"/>
          </a:xfrm>
          <a:prstGeom prst="rect">
            <a:avLst/>
          </a:prstGeom>
          <a:solidFill>
            <a:srgbClr val="FFF8E8"/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542032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4203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Semaine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259689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Lentilles corail 2×/semaine · Graines de lin moulues le matin · Thé vert 2 tasses/jour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36976"/>
            <a:ext cx="8595360" cy="685800"/>
          </a:xfrm>
          <a:prstGeom prst="rect">
            <a:avLst/>
          </a:prstGeom>
          <a:solidFill>
            <a:srgbClr val="D4EAD0"/>
          </a:solidFill>
          <a:ln w="7620">
            <a:solidFill>
              <a:srgbClr val="9DC4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346704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4670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Semaine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340156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Kéfir chaque jour · Brocoli vapeur 2-3×/semaine · Huile d'olive extra vierge à tous les repas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8595360" cy="685800"/>
          </a:xfrm>
          <a:prstGeom prst="rect">
            <a:avLst/>
          </a:prstGeom>
          <a:solidFill>
            <a:srgbClr val="FFF8E8"/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4151376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15137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Semaine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42062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Gingembre frais chaque matin · Noix de Grenoble chaque jour · Épinards 3-4×/semaine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D5A27"/>
                </a:solidFill>
              </a:rPr>
              <a:t>En 4 semaines — 12 des 15 aliments sont intégrés dans tes habitudes. Naturellement. Sans effort.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LA SUITE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9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la prochaine vidéo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0" y="877824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8595360" cy="2377440"/>
          </a:xfrm>
          <a:prstGeom prst="rect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Gluten · Produits laitiers · Chrononutrition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60520" y="1938528"/>
            <a:ext cx="822960" cy="36576"/>
          </a:xfrm>
          <a:prstGeom prst="rect">
            <a:avLst/>
          </a:prstGeom>
          <a:solidFill>
            <a:srgbClr val="E8C040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498"/>
                </a:solidFill>
              </a:rPr>
              <a:t>Faut-il supprimer le gluten 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C498"/>
                </a:solidFill>
              </a:rPr>
              <a:t>Pourquoi certaines personnes réagissent aux produits laitiers 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C498"/>
                </a:solidFill>
              </a:rPr>
              <a:t>Et l'importance de QUAND tu manges, pas seulement QUOI.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2194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307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4224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27"/>
                </a:solidFill>
              </a:rPr>
              <a:t>Gluten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498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48"/>
                </a:solidFill>
              </a:rPr>
              <a:t>Sensibilité non-cœliaque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A48"/>
                </a:solidFill>
              </a:rPr>
              <a:t>&amp; inflammation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3657600"/>
            <a:ext cx="2194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7307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🥛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57600" y="4224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27"/>
                </a:solidFill>
              </a:rPr>
              <a:t>Produits laitiers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4498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48"/>
                </a:solidFill>
              </a:rPr>
              <a:t>Tolérance individuelle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A48"/>
                </a:solidFill>
              </a:rPr>
              <a:t>&amp; alternatives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2194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9DC4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7307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4224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27"/>
                </a:solidFill>
              </a:rPr>
              <a:t>Chrononutrition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498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48"/>
                </a:solidFill>
              </a:rPr>
              <a:t>L'importance de QUAND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A48"/>
                </a:solidFill>
              </a:rPr>
              <a:t>on mange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5A27">
                    <a:alpha val="65000"/>
                  </a:srgbClr>
                </a:solidFill>
              </a:rPr>
              <a:t>CONSEIL2NATURO · DOCUMENT BONUS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E8C040">
              <a:alpha val="50000"/>
            </a:srgbClr>
          </a:solidFill>
          <a:ln w="762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91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5A27"/>
                </a:solidFill>
              </a:rPr>
              <a:t>CONCLUSION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5A27">
                    <a:alpha val="60000"/>
                  </a:srgbClr>
                </a:solidFill>
              </a:rPr>
              <a:t>10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 document bonus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297680" y="82296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822960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DC4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332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"Mes 15 aliments — comment je les intègre cette semaine"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1737360"/>
            <a:ext cx="384048" cy="38404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7190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Un aliment par fiche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0848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Pourquoi il agit · Comment le choisir · Comment le cuisiner · L'astuce clé à retenir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487168"/>
            <a:ext cx="7863840" cy="13716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6791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 planning de la semaine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044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Comment intégrer progressivement les 15 aliments sur 4 semaines sans se prendre la tête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447288"/>
            <a:ext cx="7863840" cy="13716"/>
          </a:xfrm>
          <a:prstGeom prst="rect">
            <a:avLst/>
          </a:prstGeom>
          <a:solidFill>
            <a:srgbClr val="D4EAD0"/>
          </a:solidFill>
          <a:ln w="12700">
            <a:solidFill>
              <a:srgbClr val="D4EA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657600"/>
            <a:ext cx="384048" cy="38404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639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27"/>
                </a:solidFill>
              </a:rPr>
              <a:t>Les combos anti-inflammatoires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0050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A48"/>
                </a:solidFill>
              </a:rPr>
              <a:t>Quels aliments associer pour démultiplier les effets (curcuma+poivre, sardines+citron+huile...)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Télécharge juste en dessous · Questions dans la communauté · Je réponds chaque semaine 🌿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3 - Les 15 aliments phares - Conseil2Naturo</dc:title>
  <dc:subject>PptxGenJS Presentation</dc:subject>
  <dc:creator>PptxGenJS</dc:creator>
  <cp:lastModifiedBy>PptxGenJS</cp:lastModifiedBy>
  <cp:revision>1</cp:revision>
  <dcterms:created xsi:type="dcterms:W3CDTF">2026-04-14T09:55:12Z</dcterms:created>
  <dcterms:modified xsi:type="dcterms:W3CDTF">2026-04-14T09:55:12Z</dcterms:modified>
</cp:coreProperties>
</file>